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Borocean'u tek cümleyle tanıt — iki borsa (BIST + ABD), üç ayrı görüş (kural bazlı skor, AI temel analiz, AI teknik okuma) tek panelde. Bu sunumun kapsamı: ürün, konumlandırma, hedef kitle, iş modeli ve pazarlama/lansman planı.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başlığı hızlı geç: BIST ikinci sınıf, teknik/temel ayrı araçlarda, tüyolar güvenilmez, aracı kurumlar tarafsız değil. Vurgu: hiçbiri bu dördünü birlikte çözmüyor — bu bizim boşluğumuz.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Vizyon cümlesini oku, sonra üç sütunu tek tek anlat: temel analiz (bugün üretimde), teknik analiz (bugün üretimde), AI yorum (yol haritasında, Epic 9). Bu üçü aynı hisse için, aynı panelde birlikte sunuluyor.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Sekiz modülü tek tek okuma — gruplama yeterli: keşif+analiz (arama, temel, teknik), karar destek (tarama, alarm, portföy), kişiselleştirme+lokalizasyon. Hepsi MVP kapsamında bugün üretimde.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rakiplerin hiçbirinde olmayan asıl farklılaşma noktası. Üç görüşü ayrı ayrı anlat, sonra altındaki uyarıyı vurgula: dil kasıtlı olarak 'tavsiye' değil 'bulgu' — regülasyon riskini azaltan bir konumlandırma kararı (detay: slayt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satır satır değil, örüntü olarak anlat: her rakip bir veya iki kriterde güçlü ama hiçbiri dördünü birlikte sunmuyor. Kapanışta konumlandırma cümlesini net söyle.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persona da PRD'deki gerçek kullanıcı senaryolarından geliyor (UJ-1, UJ-2). Beachhead kararı: önce Ayşe segmenti (TR pazarı, düşük CAC, yüksek organik paylaşım), Mehmet segmenti ikinci dalga — premium'a daha hızlı geçiyor ama edinmesi daha pahalı/rekabetçi.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Freemium sınırını hızlı geç, asıl mesaj alttaki kutu: şu an her şey ücretsiz — bu bir eksiklik değil, kasıtlı bir büyüme/veri toplama stratejisi. Ödeme altyapısı kurulunca (Story 8.2) paywall devreye girecek.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fazı akış olarak anlat. Kanal şeridi detay değil, genel görünüm için. Alttaki growth-loop kutusu önemli: zaten var olan Sektör Bülteni özelliğini pazarlama kanalına çevirmek — ek mühendislik maliyeti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satırı 10-15 saniyede geç: kanal, mesaj, maliyet mantığı. Ortak tema: hepsi düşük bütçe/solo kurucu gerçeğine uygun, var olan özellikleri (AI görüşleri, sektör bülteni) pazarlama materyaline çeviriyor.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NSM'nin neden bu olduğunu anlat: Borocean bir 'productivity/karar destek' oyunu oynuyor, gelir değil müşteri değeri merkezli metrik seçildi. Karşı-metrikleri atlama — yatırımcılar büyümenin kalite pahasına gelmediğini görmek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kutu: sol = bugün gerçekten çalışan/canlı olan (güven inşası için somut), sağ = önceliklendirilmiş yol haritası. Epic 9/10'un MVP'nin ÖNÜNE değil, MVP tamamlandıktan SONRA planlandığını vurgula — kapsam disiplini göstergesi.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atlamayı düşünme — yatırımcı karşısında en olası soru bu. Şeffaf ol: konumlandırma kararı bilinçli verildi (tavsiye değil bulgu dili), ama hukuki teyit henüz alınmadı; bunu açık bir risk/aksiyon maddesi olarak sun, gizleme.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tek cümleye geri dön — 'İki borsa, üç görüş, tek uygulama.' Somut bir sonraki adım öner (beta davet / demo / görüşme), soru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B0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image" Target="../media/image-8-1.png"/><Relationship Id="rId8" Type="http://schemas.openxmlformats.org/officeDocument/2006/relationships/image" Target="../media/image-8-1.png"/><Relationship Id="rId9" Type="http://schemas.openxmlformats.org/officeDocument/2006/relationships/image" Target="../media/image-8-1.png"/><Relationship Id="rId10" Type="http://schemas.openxmlformats.org/officeDocument/2006/relationships/image" Target="../media/image-8-1.png"/><Relationship Id="rId11" Type="http://schemas.openxmlformats.org/officeDocument/2006/relationships/image" Target="../media/image-8-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B0D"/>
          </a:solidFill>
          <a:ln/>
        </p:spPr>
      </p:sp>
      <p:sp>
        <p:nvSpPr>
          <p:cNvPr id="3" name="Shape 1"/>
          <p:cNvSpPr/>
          <p:nvPr/>
        </p:nvSpPr>
        <p:spPr>
          <a:xfrm>
            <a:off x="8046720" y="-2286000"/>
            <a:ext cx="6400800" cy="6400800"/>
          </a:xfrm>
          <a:prstGeom prst="ellipse">
            <a:avLst/>
          </a:prstGeom>
          <a:solidFill>
            <a:srgbClr val="3B82F6">
              <a:alpha val="12000"/>
            </a:srgbClr>
          </a:solidFill>
          <a:ln/>
        </p:spPr>
      </p:sp>
      <p:sp>
        <p:nvSpPr>
          <p:cNvPr id="4" name="Shape 2"/>
          <p:cNvSpPr/>
          <p:nvPr/>
        </p:nvSpPr>
        <p:spPr>
          <a:xfrm>
            <a:off x="-2286000" y="3840480"/>
            <a:ext cx="5486400" cy="5486400"/>
          </a:xfrm>
          <a:prstGeom prst="ellipse">
            <a:avLst/>
          </a:prstGeom>
          <a:solidFill>
            <a:srgbClr val="34D399">
              <a:alpha val="8000"/>
            </a:srgbClr>
          </a:solidFill>
          <a:ln/>
        </p:spPr>
      </p:sp>
      <p:pic>
        <p:nvPicPr>
          <p:cNvPr id="5" name="Image 0" descr="/private/tmp/claude-501/-Users-ulasbudak-Desktop-borsa-app/e78c8e07-ac03-4beb-bcc3-115504839e4a/scratchpad/deck/logo_mark_accent.png">    </p:cNvPr>
          <p:cNvPicPr>
            <a:picLocks noChangeAspect="1"/>
          </p:cNvPicPr>
          <p:nvPr/>
        </p:nvPicPr>
        <p:blipFill>
          <a:blip r:embed="rId1"/>
          <a:stretch>
            <a:fillRect/>
          </a:stretch>
        </p:blipFill>
        <p:spPr>
          <a:xfrm>
            <a:off x="777240" y="1188720"/>
            <a:ext cx="960120" cy="960120"/>
          </a:xfrm>
          <a:prstGeom prst="rect">
            <a:avLst/>
          </a:prstGeom>
        </p:spPr>
      </p:pic>
      <p:sp>
        <p:nvSpPr>
          <p:cNvPr id="6" name="Text 3"/>
          <p:cNvSpPr txBox="1"/>
          <p:nvPr/>
        </p:nvSpPr>
        <p:spPr>
          <a:xfrm>
            <a:off x="777240" y="2331720"/>
            <a:ext cx="9144000" cy="1005840"/>
          </a:xfrm>
          <a:prstGeom prst="rect">
            <a:avLst/>
          </a:prstGeom>
          <a:noFill/>
          <a:ln/>
        </p:spPr>
        <p:txBody>
          <a:bodyPr wrap="square" lIns="0" tIns="0" rIns="0" bIns="0" rtlCol="0" anchor="ctr"/>
          <a:lstStyle/>
          <a:p>
            <a:pPr indent="0" marL="0">
              <a:buNone/>
            </a:pPr>
            <a:r>
              <a:rPr lang="en-US" sz="6000" b="1" spc="100" kern="0" dirty="0">
                <a:solidFill>
                  <a:srgbClr val="F4F5F7"/>
                </a:solidFill>
                <a:latin typeface="Cambria" pitchFamily="34" charset="0"/>
                <a:ea typeface="Cambria" pitchFamily="34" charset="-122"/>
                <a:cs typeface="Cambria" pitchFamily="34" charset="-120"/>
              </a:rPr>
              <a:t>BOROCEAN</a:t>
            </a:r>
            <a:endParaRPr lang="en-US" sz="6000" dirty="0"/>
          </a:p>
        </p:txBody>
      </p:sp>
      <p:sp>
        <p:nvSpPr>
          <p:cNvPr id="7" name="Text 4"/>
          <p:cNvSpPr txBox="1"/>
          <p:nvPr/>
        </p:nvSpPr>
        <p:spPr>
          <a:xfrm>
            <a:off x="822960" y="3246120"/>
            <a:ext cx="9601200" cy="548640"/>
          </a:xfrm>
          <a:prstGeom prst="rect">
            <a:avLst/>
          </a:prstGeom>
          <a:noFill/>
          <a:ln/>
        </p:spPr>
        <p:txBody>
          <a:bodyPr wrap="square" lIns="0" tIns="0" rIns="0" bIns="0" rtlCol="0" anchor="ctr"/>
          <a:lstStyle/>
          <a:p>
            <a:pPr indent="0" marL="0">
              <a:buNone/>
            </a:pPr>
            <a:r>
              <a:rPr lang="en-US" sz="2200" b="1" dirty="0">
                <a:solidFill>
                  <a:srgbClr val="3B82F6"/>
                </a:solidFill>
                <a:latin typeface="Calibri" pitchFamily="34" charset="0"/>
                <a:ea typeface="Calibri" pitchFamily="34" charset="-122"/>
                <a:cs typeface="Calibri" pitchFamily="34" charset="-120"/>
              </a:rPr>
              <a:t>İki borsa. Üç görüş. Tek uygulama.</a:t>
            </a:r>
            <a:endParaRPr lang="en-US" sz="2200" dirty="0"/>
          </a:p>
        </p:txBody>
      </p:sp>
      <p:sp>
        <p:nvSpPr>
          <p:cNvPr id="8" name="Text 5"/>
          <p:cNvSpPr txBox="1"/>
          <p:nvPr/>
        </p:nvSpPr>
        <p:spPr>
          <a:xfrm>
            <a:off x="822960" y="3886200"/>
            <a:ext cx="7863840" cy="822960"/>
          </a:xfrm>
          <a:prstGeom prst="rect">
            <a:avLst/>
          </a:prstGeom>
          <a:noFill/>
          <a:ln/>
        </p:spPr>
        <p:txBody>
          <a:bodyPr wrap="square" lIns="0" tIns="0" rIns="0" bIns="0" rtlCol="0" anchor="ctr"/>
          <a:lstStyle/>
          <a:p>
            <a:pPr indent="0" marL="0">
              <a:lnSpc>
                <a:spcPct val="130000"/>
              </a:lnSpc>
              <a:buNone/>
            </a:pPr>
            <a:r>
              <a:rPr lang="en-US" sz="1400" dirty="0">
                <a:solidFill>
                  <a:srgbClr val="9CA3AF"/>
                </a:solidFill>
                <a:latin typeface="Calibri" pitchFamily="34" charset="0"/>
                <a:ea typeface="Calibri" pitchFamily="34" charset="-122"/>
                <a:cs typeface="Calibri" pitchFamily="34" charset="-120"/>
              </a:rPr>
              <a:t>ABD (NYSE/NASDAQ) ve Türkiye (BIST) hisselerini dünya standardı temel + teknik analiz metrikleriyle ve AI destekli yorumlarla saniyeler içinde değerlendiren yatırım araştırma uygulaması.</a:t>
            </a:r>
            <a:endParaRPr lang="en-US" sz="1400" dirty="0"/>
          </a:p>
        </p:txBody>
      </p:sp>
      <p:sp>
        <p:nvSpPr>
          <p:cNvPr id="9" name="Text 6"/>
          <p:cNvSpPr txBox="1"/>
          <p:nvPr/>
        </p:nvSpPr>
        <p:spPr>
          <a:xfrm>
            <a:off x="822960" y="6080760"/>
            <a:ext cx="54864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Ürün &amp; Pazarlama Sunumu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PROBLEM</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Bireysel yatırımcı, parçalanmış bir araç yığınıyla karar veriyor</a:t>
            </a:r>
            <a:endParaRPr lang="en-US" sz="3000" dirty="0"/>
          </a:p>
        </p:txBody>
      </p:sp>
      <p:sp>
        <p:nvSpPr>
          <p:cNvPr id="4" name="Shape 2"/>
          <p:cNvSpPr/>
          <p:nvPr/>
        </p:nvSpPr>
        <p:spPr>
          <a:xfrm>
            <a:off x="548640" y="173736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2007108"/>
            <a:ext cx="512064" cy="512064"/>
          </a:xfrm>
          <a:prstGeom prst="ellipse">
            <a:avLst/>
          </a:prstGeom>
          <a:solidFill>
            <a:srgbClr val="1E2126"/>
          </a:solidFill>
          <a:ln/>
        </p:spPr>
      </p:sp>
      <p:pic>
        <p:nvPicPr>
          <p:cNvPr id="6" name="Image 0" descr="/private/tmp/claude-501/-Users-ulasbudak-Desktop-borsa-app/e78c8e07-ac03-4beb-bcc3-115504839e4a/scratchpad/deck/icons/globe-accent.png">    </p:cNvPr>
          <p:cNvPicPr>
            <a:picLocks noChangeAspect="1"/>
          </p:cNvPicPr>
          <p:nvPr/>
        </p:nvPicPr>
        <p:blipFill>
          <a:blip r:embed="rId1"/>
          <a:stretch>
            <a:fillRect/>
          </a:stretch>
        </p:blipFill>
        <p:spPr>
          <a:xfrm>
            <a:off x="871240" y="2073676"/>
            <a:ext cx="378927" cy="378927"/>
          </a:xfrm>
          <a:prstGeom prst="rect">
            <a:avLst/>
          </a:prstGeom>
        </p:spPr>
      </p:pic>
      <p:sp>
        <p:nvSpPr>
          <p:cNvPr id="7" name="Text 4"/>
          <p:cNvSpPr txBox="1"/>
          <p:nvPr/>
        </p:nvSpPr>
        <p:spPr>
          <a:xfrm>
            <a:off x="1508760" y="188366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BIST ikinci sınıf muamele görüyor</a:t>
            </a:r>
            <a:endParaRPr lang="en-US" sz="1450" dirty="0"/>
          </a:p>
        </p:txBody>
      </p:sp>
      <p:sp>
        <p:nvSpPr>
          <p:cNvPr id="8" name="Text 5"/>
          <p:cNvSpPr txBox="1"/>
          <p:nvPr/>
        </p:nvSpPr>
        <p:spPr>
          <a:xfrm>
            <a:off x="1508760" y="223113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Küresel araçların çoğu ABD odaklı; Türkiye borsası ya hiç yok ya da yüzeysel/gecikmeli.</a:t>
            </a:r>
            <a:endParaRPr lang="en-US" sz="1150" dirty="0"/>
          </a:p>
        </p:txBody>
      </p:sp>
      <p:sp>
        <p:nvSpPr>
          <p:cNvPr id="9" name="Shape 6"/>
          <p:cNvSpPr/>
          <p:nvPr/>
        </p:nvSpPr>
        <p:spPr>
          <a:xfrm>
            <a:off x="6035040" y="173736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291072" y="2007108"/>
            <a:ext cx="512064" cy="512064"/>
          </a:xfrm>
          <a:prstGeom prst="ellipse">
            <a:avLst/>
          </a:prstGeom>
          <a:solidFill>
            <a:srgbClr val="1E2126"/>
          </a:solidFill>
          <a:ln/>
        </p:spPr>
      </p:sp>
      <p:pic>
        <p:nvPicPr>
          <p:cNvPr id="11" name="Image 1" descr="/private/tmp/claude-501/-Users-ulasbudak-Desktop-borsa-app/e78c8e07-ac03-4beb-bcc3-115504839e4a/scratchpad/deck/icons/layers-accent.png">    </p:cNvPr>
          <p:cNvPicPr>
            <a:picLocks noChangeAspect="1"/>
          </p:cNvPicPr>
          <p:nvPr/>
        </p:nvPicPr>
        <p:blipFill>
          <a:blip r:embed="rId2"/>
          <a:stretch>
            <a:fillRect/>
          </a:stretch>
        </p:blipFill>
        <p:spPr>
          <a:xfrm>
            <a:off x="6357640" y="2073676"/>
            <a:ext cx="378927" cy="378927"/>
          </a:xfrm>
          <a:prstGeom prst="rect">
            <a:avLst/>
          </a:prstGeom>
        </p:spPr>
      </p:pic>
      <p:sp>
        <p:nvSpPr>
          <p:cNvPr id="12" name="Text 8"/>
          <p:cNvSpPr txBox="1"/>
          <p:nvPr/>
        </p:nvSpPr>
        <p:spPr>
          <a:xfrm>
            <a:off x="6995160" y="188366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Teknik + temel analiz ayrı araçlarda</a:t>
            </a:r>
            <a:endParaRPr lang="en-US" sz="1450" dirty="0"/>
          </a:p>
        </p:txBody>
      </p:sp>
      <p:sp>
        <p:nvSpPr>
          <p:cNvPr id="13" name="Text 9"/>
          <p:cNvSpPr txBox="1"/>
          <p:nvPr/>
        </p:nvSpPr>
        <p:spPr>
          <a:xfrm>
            <a:off x="6995160" y="223113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TradingView güçlü grafik sunar ama sektör kıyaslamalı temel analiz ve AI yorum sunmaz.</a:t>
            </a:r>
            <a:endParaRPr lang="en-US" sz="1150" dirty="0"/>
          </a:p>
        </p:txBody>
      </p:sp>
      <p:sp>
        <p:nvSpPr>
          <p:cNvPr id="14" name="Shape 10"/>
          <p:cNvSpPr/>
          <p:nvPr/>
        </p:nvSpPr>
        <p:spPr>
          <a:xfrm>
            <a:off x="548640" y="306324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804672" y="3332988"/>
            <a:ext cx="512064" cy="512064"/>
          </a:xfrm>
          <a:prstGeom prst="ellipse">
            <a:avLst/>
          </a:prstGeom>
          <a:solidFill>
            <a:srgbClr val="1E2126"/>
          </a:solidFill>
          <a:ln/>
        </p:spPr>
      </p:sp>
      <p:pic>
        <p:nvPicPr>
          <p:cNvPr id="16" name="Image 2" descr="/private/tmp/claude-501/-Users-ulasbudak-Desktop-borsa-app/e78c8e07-ac03-4beb-bcc3-115504839e4a/scratchpad/deck/icons/message-accent.png">    </p:cNvPr>
          <p:cNvPicPr>
            <a:picLocks noChangeAspect="1"/>
          </p:cNvPicPr>
          <p:nvPr/>
        </p:nvPicPr>
        <p:blipFill>
          <a:blip r:embed="rId3"/>
          <a:stretch>
            <a:fillRect/>
          </a:stretch>
        </p:blipFill>
        <p:spPr>
          <a:xfrm>
            <a:off x="871240" y="3399556"/>
            <a:ext cx="378927" cy="378927"/>
          </a:xfrm>
          <a:prstGeom prst="rect">
            <a:avLst/>
          </a:prstGeom>
        </p:spPr>
      </p:pic>
      <p:sp>
        <p:nvSpPr>
          <p:cNvPr id="17" name="Text 12"/>
          <p:cNvSpPr txBox="1"/>
          <p:nvPr/>
        </p:nvSpPr>
        <p:spPr>
          <a:xfrm>
            <a:off x="1508760" y="320954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Sosyal medya "tüyoları" veri kaynağı göstermez</a:t>
            </a:r>
            <a:endParaRPr lang="en-US" sz="1450" dirty="0"/>
          </a:p>
        </p:txBody>
      </p:sp>
      <p:sp>
        <p:nvSpPr>
          <p:cNvPr id="18" name="Text 13"/>
          <p:cNvSpPr txBox="1"/>
          <p:nvPr/>
        </p:nvSpPr>
        <p:spPr>
          <a:xfrm>
            <a:off x="1508760" y="355701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Twitter/Telegram önerileri hızlı ama doğrulanamaz; "neden" sorusuna yanıt yok.</a:t>
            </a:r>
            <a:endParaRPr lang="en-US" sz="1150" dirty="0"/>
          </a:p>
        </p:txBody>
      </p:sp>
      <p:sp>
        <p:nvSpPr>
          <p:cNvPr id="19" name="Shape 14"/>
          <p:cNvSpPr/>
          <p:nvPr/>
        </p:nvSpPr>
        <p:spPr>
          <a:xfrm>
            <a:off x="6035040" y="306324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291072" y="3332988"/>
            <a:ext cx="512064" cy="512064"/>
          </a:xfrm>
          <a:prstGeom prst="ellipse">
            <a:avLst/>
          </a:prstGeom>
          <a:solidFill>
            <a:srgbClr val="1E2126"/>
          </a:solidFill>
          <a:ln/>
        </p:spPr>
      </p:sp>
      <p:pic>
        <p:nvPicPr>
          <p:cNvPr id="21" name="Image 3" descr="/private/tmp/claude-501/-Users-ulasbudak-Desktop-borsa-app/e78c8e07-ac03-4beb-bcc3-115504839e4a/scratchpad/deck/icons/shield-accent.png">    </p:cNvPr>
          <p:cNvPicPr>
            <a:picLocks noChangeAspect="1"/>
          </p:cNvPicPr>
          <p:nvPr/>
        </p:nvPicPr>
        <p:blipFill>
          <a:blip r:embed="rId4"/>
          <a:stretch>
            <a:fillRect/>
          </a:stretch>
        </p:blipFill>
        <p:spPr>
          <a:xfrm>
            <a:off x="6357640" y="3399556"/>
            <a:ext cx="378927" cy="378927"/>
          </a:xfrm>
          <a:prstGeom prst="rect">
            <a:avLst/>
          </a:prstGeom>
        </p:spPr>
      </p:pic>
      <p:sp>
        <p:nvSpPr>
          <p:cNvPr id="22" name="Text 16"/>
          <p:cNvSpPr txBox="1"/>
          <p:nvPr/>
        </p:nvSpPr>
        <p:spPr>
          <a:xfrm>
            <a:off x="6995160" y="320954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Aracı kurum uygulamaları tarafsız değil</a:t>
            </a:r>
            <a:endParaRPr lang="en-US" sz="1450" dirty="0"/>
          </a:p>
        </p:txBody>
      </p:sp>
      <p:sp>
        <p:nvSpPr>
          <p:cNvPr id="23" name="Text 17"/>
          <p:cNvSpPr txBox="1"/>
          <p:nvPr/>
        </p:nvSpPr>
        <p:spPr>
          <a:xfrm>
            <a:off x="6995160" y="355701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Araştırma katmanı genelde kendi ürün/komisyon çıkarına hizmet edecek şekilde kurgulanır.</a:t>
            </a:r>
            <a:endParaRPr lang="en-US" sz="1150" dirty="0"/>
          </a:p>
        </p:txBody>
      </p:sp>
      <p:sp>
        <p:nvSpPr>
          <p:cNvPr id="24" name="Text 18"/>
          <p:cNvSpPr txBox="1"/>
          <p:nvPr/>
        </p:nvSpPr>
        <p:spPr>
          <a:xfrm>
            <a:off x="548640" y="5989320"/>
            <a:ext cx="10607040" cy="457200"/>
          </a:xfrm>
          <a:prstGeom prst="rect">
            <a:avLst/>
          </a:prstGeom>
          <a:noFill/>
          <a:ln/>
        </p:spPr>
        <p:txBody>
          <a:bodyPr wrap="square" lIns="0" tIns="0" rIns="0" bIns="0" rtlCol="0" anchor="ctr"/>
          <a:lstStyle/>
          <a:p>
            <a:pPr indent="0" marL="0">
              <a:buNone/>
            </a:pPr>
            <a:r>
              <a:rPr lang="en-US" sz="1250" i="1" dirty="0">
                <a:solidFill>
                  <a:srgbClr val="9CA3AF"/>
                </a:solidFill>
                <a:latin typeface="Calibri" pitchFamily="34" charset="0"/>
                <a:ea typeface="Calibri" pitchFamily="34" charset="-122"/>
                <a:cs typeface="Calibri" pitchFamily="34" charset="-120"/>
              </a:rPr>
              <a:t>Sonuç: aynı hisseyi değerlendirmek için birden fazla uygulama, birden fazla dil ve güvenilirliği belirsiz kaynaklar arasında geziniliyor.</a:t>
            </a:r>
            <a:endParaRPr lang="en-US" sz="1250" dirty="0"/>
          </a:p>
        </p:txBody>
      </p:sp>
      <p:sp>
        <p:nvSpPr>
          <p:cNvPr id="25" name="Text 19"/>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pic>
        <p:nvPicPr>
          <p:cNvPr id="26" name="Image 4" descr="/private/tmp/claude-501/-Users-ulasbudak-Desktop-borsa-app/e78c8e07-ac03-4beb-bcc3-115504839e4a/scratchpad/deck/logo_mark_accent.png">    </p:cNvPr>
          <p:cNvPicPr>
            <a:picLocks noChangeAspect="1"/>
          </p:cNvPicPr>
          <p:nvPr/>
        </p:nvPicPr>
        <p:blipFill>
          <a:blip r:embed="rId5"/>
          <a:stretch>
            <a:fillRect/>
          </a:stretch>
        </p:blipFill>
        <p:spPr>
          <a:xfrm>
            <a:off x="548640" y="6437376"/>
            <a:ext cx="173736" cy="173736"/>
          </a:xfrm>
          <a:prstGeom prst="rect">
            <a:avLst/>
          </a:prstGeom>
        </p:spPr>
      </p:pic>
      <p:sp>
        <p:nvSpPr>
          <p:cNvPr id="27" name="Text 20"/>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VIZYON &amp; ÇÖZÜM</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Herhangi bir hisseyi, saniyeler içinde, dünya standardında değerlendir</a:t>
            </a:r>
            <a:endParaRPr lang="en-US" sz="3000" dirty="0"/>
          </a:p>
        </p:txBody>
      </p:sp>
      <p:sp>
        <p:nvSpPr>
          <p:cNvPr id="4" name="Shape 2"/>
          <p:cNvSpPr/>
          <p:nvPr/>
        </p:nvSpPr>
        <p:spPr>
          <a:xfrm>
            <a:off x="548640" y="1691640"/>
            <a:ext cx="10607040" cy="1051560"/>
          </a:xfrm>
          <a:prstGeom prst="roundRect">
            <a:avLst>
              <a:gd name="adj" fmla="val 10435"/>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914400" y="1810512"/>
            <a:ext cx="9875520" cy="822960"/>
          </a:xfrm>
          <a:prstGeom prst="rect">
            <a:avLst/>
          </a:prstGeom>
          <a:noFill/>
          <a:ln/>
        </p:spPr>
        <p:txBody>
          <a:bodyPr wrap="square" lIns="0" tIns="0" rIns="0" bIns="0" rtlCol="0" anchor="ctr"/>
          <a:lstStyle/>
          <a:p>
            <a:pPr indent="0" marL="0">
              <a:lnSpc>
                <a:spcPct val="130000"/>
              </a:lnSpc>
              <a:buNone/>
            </a:pPr>
            <a:r>
              <a:rPr lang="en-US" sz="1500" i="1" dirty="0">
                <a:solidFill>
                  <a:srgbClr val="F4F5F7"/>
                </a:solidFill>
                <a:latin typeface="Cambria" pitchFamily="34" charset="0"/>
                <a:ea typeface="Cambria" pitchFamily="34" charset="-122"/>
                <a:cs typeface="Cambria" pitchFamily="34" charset="-120"/>
              </a:rPr>
              <a:t>“Kullanıcının, ABD ve Türkiye borsalarındaki herhangi bir hisseyi, dünya standardı metriklerle saniyeler içinde değerlendirip kendi izleme/portföy akışına dahil edebildiği tek uygulama.”</a:t>
            </a:r>
            <a:endParaRPr lang="en-US" sz="1500" dirty="0"/>
          </a:p>
        </p:txBody>
      </p:sp>
      <p:sp>
        <p:nvSpPr>
          <p:cNvPr id="6" name="Shape 4"/>
          <p:cNvSpPr/>
          <p:nvPr/>
        </p:nvSpPr>
        <p:spPr>
          <a:xfrm>
            <a:off x="548640"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1888236" y="3383280"/>
            <a:ext cx="640080" cy="640080"/>
          </a:xfrm>
          <a:prstGeom prst="ellipse">
            <a:avLst/>
          </a:prstGeom>
          <a:solidFill>
            <a:srgbClr val="3B82F6"/>
          </a:solidFill>
          <a:ln/>
        </p:spPr>
      </p:sp>
      <p:pic>
        <p:nvPicPr>
          <p:cNvPr id="8" name="Image 0" descr="/private/tmp/claude-501/-Users-ulasbudak-Desktop-borsa-app/e78c8e07-ac03-4beb-bcc3-115504839e4a/scratchpad/deck/icons/chart-white.png">    </p:cNvPr>
          <p:cNvPicPr>
            <a:picLocks noChangeAspect="1"/>
          </p:cNvPicPr>
          <p:nvPr/>
        </p:nvPicPr>
        <p:blipFill>
          <a:blip r:embed="rId1"/>
          <a:stretch>
            <a:fillRect/>
          </a:stretch>
        </p:blipFill>
        <p:spPr>
          <a:xfrm>
            <a:off x="1971446" y="3466490"/>
            <a:ext cx="473659" cy="473659"/>
          </a:xfrm>
          <a:prstGeom prst="rect">
            <a:avLst/>
          </a:prstGeom>
        </p:spPr>
      </p:pic>
      <p:sp>
        <p:nvSpPr>
          <p:cNvPr id="9" name="Text 6"/>
          <p:cNvSpPr txBox="1"/>
          <p:nvPr/>
        </p:nvSpPr>
        <p:spPr>
          <a:xfrm>
            <a:off x="777240"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Temel Analiz</a:t>
            </a:r>
            <a:endParaRPr lang="en-US" sz="1600" dirty="0"/>
          </a:p>
        </p:txBody>
      </p:sp>
      <p:sp>
        <p:nvSpPr>
          <p:cNvPr id="10" name="Text 7"/>
          <p:cNvSpPr txBox="1"/>
          <p:nvPr/>
        </p:nvSpPr>
        <p:spPr>
          <a:xfrm>
            <a:off x="822960"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F/K, PD/DD, ROE, temettü verimi ve daha fazlası — sektör ortalamasına göre kıyaslamalı.</a:t>
            </a:r>
            <a:endParaRPr lang="en-US" sz="1150" dirty="0"/>
          </a:p>
        </p:txBody>
      </p:sp>
      <p:sp>
        <p:nvSpPr>
          <p:cNvPr id="11" name="Shape 8"/>
          <p:cNvSpPr/>
          <p:nvPr/>
        </p:nvSpPr>
        <p:spPr>
          <a:xfrm>
            <a:off x="4187952"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5527548" y="3383280"/>
            <a:ext cx="640080" cy="640080"/>
          </a:xfrm>
          <a:prstGeom prst="ellipse">
            <a:avLst/>
          </a:prstGeom>
          <a:solidFill>
            <a:srgbClr val="3B82F6"/>
          </a:solidFill>
          <a:ln/>
        </p:spPr>
      </p:sp>
      <p:pic>
        <p:nvPicPr>
          <p:cNvPr id="13" name="Image 1" descr="/private/tmp/claude-501/-Users-ulasbudak-Desktop-borsa-app/e78c8e07-ac03-4beb-bcc3-115504839e4a/scratchpad/deck/icons/activity-white.png">    </p:cNvPr>
          <p:cNvPicPr>
            <a:picLocks noChangeAspect="1"/>
          </p:cNvPicPr>
          <p:nvPr/>
        </p:nvPicPr>
        <p:blipFill>
          <a:blip r:embed="rId2"/>
          <a:stretch>
            <a:fillRect/>
          </a:stretch>
        </p:blipFill>
        <p:spPr>
          <a:xfrm>
            <a:off x="5610758" y="3466490"/>
            <a:ext cx="473659" cy="473659"/>
          </a:xfrm>
          <a:prstGeom prst="rect">
            <a:avLst/>
          </a:prstGeom>
        </p:spPr>
      </p:pic>
      <p:sp>
        <p:nvSpPr>
          <p:cNvPr id="14" name="Text 10"/>
          <p:cNvSpPr txBox="1"/>
          <p:nvPr/>
        </p:nvSpPr>
        <p:spPr>
          <a:xfrm>
            <a:off x="4416552"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Teknik Analiz</a:t>
            </a:r>
            <a:endParaRPr lang="en-US" sz="1600" dirty="0"/>
          </a:p>
        </p:txBody>
      </p:sp>
      <p:sp>
        <p:nvSpPr>
          <p:cNvPr id="15" name="Text 11"/>
          <p:cNvSpPr txBox="1"/>
          <p:nvPr/>
        </p:nvSpPr>
        <p:spPr>
          <a:xfrm>
            <a:off x="4462272"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30+ indikatör, çoklu zaman dilimi, kural bazlı otomatik sinyal üretimi, çizim araçları.</a:t>
            </a:r>
            <a:endParaRPr lang="en-US" sz="1150" dirty="0"/>
          </a:p>
        </p:txBody>
      </p:sp>
      <p:sp>
        <p:nvSpPr>
          <p:cNvPr id="16" name="Shape 12"/>
          <p:cNvSpPr/>
          <p:nvPr/>
        </p:nvSpPr>
        <p:spPr>
          <a:xfrm>
            <a:off x="7827264"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9166860" y="3383280"/>
            <a:ext cx="640080" cy="640080"/>
          </a:xfrm>
          <a:prstGeom prst="ellipse">
            <a:avLst/>
          </a:prstGeom>
          <a:solidFill>
            <a:srgbClr val="3B82F6"/>
          </a:solidFill>
          <a:ln/>
        </p:spPr>
      </p:sp>
      <p:pic>
        <p:nvPicPr>
          <p:cNvPr id="18" name="Image 2" descr="/private/tmp/claude-501/-Users-ulasbudak-Desktop-borsa-app/e78c8e07-ac03-4beb-bcc3-115504839e4a/scratchpad/deck/icons/cpu-white.png">    </p:cNvPr>
          <p:cNvPicPr>
            <a:picLocks noChangeAspect="1"/>
          </p:cNvPicPr>
          <p:nvPr/>
        </p:nvPicPr>
        <p:blipFill>
          <a:blip r:embed="rId3"/>
          <a:stretch>
            <a:fillRect/>
          </a:stretch>
        </p:blipFill>
        <p:spPr>
          <a:xfrm>
            <a:off x="9250070" y="3466490"/>
            <a:ext cx="473659" cy="473659"/>
          </a:xfrm>
          <a:prstGeom prst="rect">
            <a:avLst/>
          </a:prstGeom>
        </p:spPr>
      </p:pic>
      <p:sp>
        <p:nvSpPr>
          <p:cNvPr id="19" name="Text 14"/>
          <p:cNvSpPr txBox="1"/>
          <p:nvPr/>
        </p:nvSpPr>
        <p:spPr>
          <a:xfrm>
            <a:off x="8055864"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AI Destekli Yorum</a:t>
            </a:r>
            <a:endParaRPr lang="en-US" sz="1600" dirty="0"/>
          </a:p>
        </p:txBody>
      </p:sp>
      <p:sp>
        <p:nvSpPr>
          <p:cNvPr id="20" name="Text 15"/>
          <p:cNvSpPr txBox="1"/>
          <p:nvPr/>
        </p:nvSpPr>
        <p:spPr>
          <a:xfrm>
            <a:off x="8101584"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LLM tabanlı temel analiz yorumu + CV modeliyle grafik okuma — kendi verimizle zeminlenmiş (RAG).</a:t>
            </a:r>
            <a:endParaRPr lang="en-US" sz="1150" dirty="0"/>
          </a:p>
        </p:txBody>
      </p:sp>
      <p:sp>
        <p:nvSpPr>
          <p:cNvPr id="21" name="Text 16"/>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pic>
        <p:nvPicPr>
          <p:cNvPr id="22" name="Image 3" descr="/private/tmp/claude-501/-Users-ulasbudak-Desktop-borsa-app/e78c8e07-ac03-4beb-bcc3-115504839e4a/scratchpad/deck/logo_mark_accent.png">    </p:cNvPr>
          <p:cNvPicPr>
            <a:picLocks noChangeAspect="1"/>
          </p:cNvPicPr>
          <p:nvPr/>
        </p:nvPicPr>
        <p:blipFill>
          <a:blip r:embed="rId4"/>
          <a:stretch>
            <a:fillRect/>
          </a:stretch>
        </p:blipFill>
        <p:spPr>
          <a:xfrm>
            <a:off x="548640" y="6437376"/>
            <a:ext cx="173736" cy="173736"/>
          </a:xfrm>
          <a:prstGeom prst="rect">
            <a:avLst/>
          </a:prstGeom>
        </p:spPr>
      </p:pic>
      <p:sp>
        <p:nvSpPr>
          <p:cNvPr id="23" name="Text 17"/>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ÜRÜN</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Sekiz modülde uçtan uca araştırma deneyimi</a:t>
            </a:r>
            <a:endParaRPr lang="en-US" sz="3000" dirty="0"/>
          </a:p>
        </p:txBody>
      </p:sp>
      <p:sp>
        <p:nvSpPr>
          <p:cNvPr id="4" name="Shape 2"/>
          <p:cNvSpPr/>
          <p:nvPr/>
        </p:nvSpPr>
        <p:spPr>
          <a:xfrm>
            <a:off x="548640"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68096" y="1911096"/>
            <a:ext cx="457200" cy="457200"/>
          </a:xfrm>
          <a:prstGeom prst="ellipse">
            <a:avLst/>
          </a:prstGeom>
          <a:solidFill>
            <a:srgbClr val="1E2126"/>
          </a:solidFill>
          <a:ln/>
        </p:spPr>
      </p:sp>
      <p:pic>
        <p:nvPicPr>
          <p:cNvPr id="6" name="Image 0" descr="/private/tmp/claude-501/-Users-ulasbudak-Desktop-borsa-app/e78c8e07-ac03-4beb-bcc3-115504839e4a/scratchpad/deck/icons/search-accent.png">    </p:cNvPr>
          <p:cNvPicPr>
            <a:picLocks noChangeAspect="1"/>
          </p:cNvPicPr>
          <p:nvPr/>
        </p:nvPicPr>
        <p:blipFill>
          <a:blip r:embed="rId1"/>
          <a:stretch>
            <a:fillRect/>
          </a:stretch>
        </p:blipFill>
        <p:spPr>
          <a:xfrm>
            <a:off x="827532" y="1970532"/>
            <a:ext cx="338328" cy="338328"/>
          </a:xfrm>
          <a:prstGeom prst="rect">
            <a:avLst/>
          </a:prstGeom>
        </p:spPr>
      </p:pic>
      <p:sp>
        <p:nvSpPr>
          <p:cNvPr id="7" name="Text 4"/>
          <p:cNvSpPr txBox="1"/>
          <p:nvPr/>
        </p:nvSpPr>
        <p:spPr>
          <a:xfrm>
            <a:off x="749808"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Hisse Arama &amp; Keşif</a:t>
            </a:r>
            <a:endParaRPr lang="en-US" sz="1250" dirty="0"/>
          </a:p>
        </p:txBody>
      </p:sp>
      <p:sp>
        <p:nvSpPr>
          <p:cNvPr id="8" name="Text 5"/>
          <p:cNvSpPr txBox="1"/>
          <p:nvPr/>
        </p:nvSpPr>
        <p:spPr>
          <a:xfrm>
            <a:off x="749808"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BIST + ABD tek arama, özet skor kartı</a:t>
            </a:r>
            <a:endParaRPr lang="en-US" sz="1000" dirty="0"/>
          </a:p>
        </p:txBody>
      </p:sp>
      <p:sp>
        <p:nvSpPr>
          <p:cNvPr id="9" name="Shape 6"/>
          <p:cNvSpPr/>
          <p:nvPr/>
        </p:nvSpPr>
        <p:spPr>
          <a:xfrm>
            <a:off x="3264408"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3483864" y="1911096"/>
            <a:ext cx="457200" cy="457200"/>
          </a:xfrm>
          <a:prstGeom prst="ellipse">
            <a:avLst/>
          </a:prstGeom>
          <a:solidFill>
            <a:srgbClr val="1E2126"/>
          </a:solidFill>
          <a:ln/>
        </p:spPr>
      </p:sp>
      <p:pic>
        <p:nvPicPr>
          <p:cNvPr id="11" name="Image 1" descr="/private/tmp/claude-501/-Users-ulasbudak-Desktop-borsa-app/e78c8e07-ac03-4beb-bcc3-115504839e4a/scratchpad/deck/icons/chart-accent.png">    </p:cNvPr>
          <p:cNvPicPr>
            <a:picLocks noChangeAspect="1"/>
          </p:cNvPicPr>
          <p:nvPr/>
        </p:nvPicPr>
        <p:blipFill>
          <a:blip r:embed="rId2"/>
          <a:stretch>
            <a:fillRect/>
          </a:stretch>
        </p:blipFill>
        <p:spPr>
          <a:xfrm>
            <a:off x="3543300" y="1970532"/>
            <a:ext cx="338328" cy="338328"/>
          </a:xfrm>
          <a:prstGeom prst="rect">
            <a:avLst/>
          </a:prstGeom>
        </p:spPr>
      </p:pic>
      <p:sp>
        <p:nvSpPr>
          <p:cNvPr id="12" name="Text 8"/>
          <p:cNvSpPr txBox="1"/>
          <p:nvPr/>
        </p:nvSpPr>
        <p:spPr>
          <a:xfrm>
            <a:off x="3465576"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Temel Analiz</a:t>
            </a:r>
            <a:endParaRPr lang="en-US" sz="1250" dirty="0"/>
          </a:p>
        </p:txBody>
      </p:sp>
      <p:sp>
        <p:nvSpPr>
          <p:cNvPr id="13" name="Text 9"/>
          <p:cNvSpPr txBox="1"/>
          <p:nvPr/>
        </p:nvSpPr>
        <p:spPr>
          <a:xfrm>
            <a:off x="3465576"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Sektör kıyaslamalı metrikler, 5 yıllık grafik</a:t>
            </a:r>
            <a:endParaRPr lang="en-US" sz="1000" dirty="0"/>
          </a:p>
        </p:txBody>
      </p:sp>
      <p:sp>
        <p:nvSpPr>
          <p:cNvPr id="14" name="Shape 10"/>
          <p:cNvSpPr/>
          <p:nvPr/>
        </p:nvSpPr>
        <p:spPr>
          <a:xfrm>
            <a:off x="5980176"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6199632" y="1911096"/>
            <a:ext cx="457200" cy="457200"/>
          </a:xfrm>
          <a:prstGeom prst="ellipse">
            <a:avLst/>
          </a:prstGeom>
          <a:solidFill>
            <a:srgbClr val="1E2126"/>
          </a:solidFill>
          <a:ln/>
        </p:spPr>
      </p:sp>
      <p:pic>
        <p:nvPicPr>
          <p:cNvPr id="16" name="Image 2" descr="/private/tmp/claude-501/-Users-ulasbudak-Desktop-borsa-app/e78c8e07-ac03-4beb-bcc3-115504839e4a/scratchpad/deck/icons/activity-accent.png">    </p:cNvPr>
          <p:cNvPicPr>
            <a:picLocks noChangeAspect="1"/>
          </p:cNvPicPr>
          <p:nvPr/>
        </p:nvPicPr>
        <p:blipFill>
          <a:blip r:embed="rId3"/>
          <a:stretch>
            <a:fillRect/>
          </a:stretch>
        </p:blipFill>
        <p:spPr>
          <a:xfrm>
            <a:off x="6259068" y="1970532"/>
            <a:ext cx="338328" cy="338328"/>
          </a:xfrm>
          <a:prstGeom prst="rect">
            <a:avLst/>
          </a:prstGeom>
        </p:spPr>
      </p:pic>
      <p:sp>
        <p:nvSpPr>
          <p:cNvPr id="17" name="Text 12"/>
          <p:cNvSpPr txBox="1"/>
          <p:nvPr/>
        </p:nvSpPr>
        <p:spPr>
          <a:xfrm>
            <a:off x="6181344"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Teknik Analiz</a:t>
            </a:r>
            <a:endParaRPr lang="en-US" sz="1250" dirty="0"/>
          </a:p>
        </p:txBody>
      </p:sp>
      <p:sp>
        <p:nvSpPr>
          <p:cNvPr id="18" name="Text 13"/>
          <p:cNvSpPr txBox="1"/>
          <p:nvPr/>
        </p:nvSpPr>
        <p:spPr>
          <a:xfrm>
            <a:off x="6181344"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30+ indikatör, çizim araçları, sinyaller</a:t>
            </a:r>
            <a:endParaRPr lang="en-US" sz="1000" dirty="0"/>
          </a:p>
        </p:txBody>
      </p:sp>
      <p:sp>
        <p:nvSpPr>
          <p:cNvPr id="19" name="Shape 14"/>
          <p:cNvSpPr/>
          <p:nvPr/>
        </p:nvSpPr>
        <p:spPr>
          <a:xfrm>
            <a:off x="8695944"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8915400" y="1911096"/>
            <a:ext cx="457200" cy="457200"/>
          </a:xfrm>
          <a:prstGeom prst="ellipse">
            <a:avLst/>
          </a:prstGeom>
          <a:solidFill>
            <a:srgbClr val="1E2126"/>
          </a:solidFill>
          <a:ln/>
        </p:spPr>
      </p:sp>
      <p:pic>
        <p:nvPicPr>
          <p:cNvPr id="21" name="Image 3" descr="/private/tmp/claude-501/-Users-ulasbudak-Desktop-borsa-app/e78c8e07-ac03-4beb-bcc3-115504839e4a/scratchpad/deck/icons/filter-accent.png">    </p:cNvPr>
          <p:cNvPicPr>
            <a:picLocks noChangeAspect="1"/>
          </p:cNvPicPr>
          <p:nvPr/>
        </p:nvPicPr>
        <p:blipFill>
          <a:blip r:embed="rId4"/>
          <a:stretch>
            <a:fillRect/>
          </a:stretch>
        </p:blipFill>
        <p:spPr>
          <a:xfrm>
            <a:off x="8974836" y="1970532"/>
            <a:ext cx="338328" cy="338328"/>
          </a:xfrm>
          <a:prstGeom prst="rect">
            <a:avLst/>
          </a:prstGeom>
        </p:spPr>
      </p:pic>
      <p:sp>
        <p:nvSpPr>
          <p:cNvPr id="22" name="Text 16"/>
          <p:cNvSpPr txBox="1"/>
          <p:nvPr/>
        </p:nvSpPr>
        <p:spPr>
          <a:xfrm>
            <a:off x="8897112"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Tarama &amp; Karşılaştırma</a:t>
            </a:r>
            <a:endParaRPr lang="en-US" sz="1250" dirty="0"/>
          </a:p>
        </p:txBody>
      </p:sp>
      <p:sp>
        <p:nvSpPr>
          <p:cNvPr id="23" name="Text 17"/>
          <p:cNvSpPr txBox="1"/>
          <p:nvPr/>
        </p:nvSpPr>
        <p:spPr>
          <a:xfrm>
            <a:off x="8897112"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Çoklu kriter screener, kayıtlı taramalar</a:t>
            </a:r>
            <a:endParaRPr lang="en-US" sz="1000" dirty="0"/>
          </a:p>
        </p:txBody>
      </p:sp>
      <p:sp>
        <p:nvSpPr>
          <p:cNvPr id="24" name="Shape 18"/>
          <p:cNvSpPr/>
          <p:nvPr/>
        </p:nvSpPr>
        <p:spPr>
          <a:xfrm>
            <a:off x="548640"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5" name="Shape 19"/>
          <p:cNvSpPr/>
          <p:nvPr/>
        </p:nvSpPr>
        <p:spPr>
          <a:xfrm>
            <a:off x="768096" y="4059936"/>
            <a:ext cx="457200" cy="457200"/>
          </a:xfrm>
          <a:prstGeom prst="ellipse">
            <a:avLst/>
          </a:prstGeom>
          <a:solidFill>
            <a:srgbClr val="1E2126"/>
          </a:solidFill>
          <a:ln/>
        </p:spPr>
      </p:sp>
      <p:pic>
        <p:nvPicPr>
          <p:cNvPr id="26" name="Image 4" descr="/private/tmp/claude-501/-Users-ulasbudak-Desktop-borsa-app/e78c8e07-ac03-4beb-bcc3-115504839e4a/scratchpad/deck/icons/bell-accent.png">    </p:cNvPr>
          <p:cNvPicPr>
            <a:picLocks noChangeAspect="1"/>
          </p:cNvPicPr>
          <p:nvPr/>
        </p:nvPicPr>
        <p:blipFill>
          <a:blip r:embed="rId5"/>
          <a:stretch>
            <a:fillRect/>
          </a:stretch>
        </p:blipFill>
        <p:spPr>
          <a:xfrm>
            <a:off x="827532" y="4119372"/>
            <a:ext cx="338328" cy="338328"/>
          </a:xfrm>
          <a:prstGeom prst="rect">
            <a:avLst/>
          </a:prstGeom>
        </p:spPr>
      </p:pic>
      <p:sp>
        <p:nvSpPr>
          <p:cNvPr id="27" name="Text 20"/>
          <p:cNvSpPr txBox="1"/>
          <p:nvPr/>
        </p:nvSpPr>
        <p:spPr>
          <a:xfrm>
            <a:off x="749808"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İzleme &amp; Alarm</a:t>
            </a:r>
            <a:endParaRPr lang="en-US" sz="1250" dirty="0"/>
          </a:p>
        </p:txBody>
      </p:sp>
      <p:sp>
        <p:nvSpPr>
          <p:cNvPr id="28" name="Text 21"/>
          <p:cNvSpPr txBox="1"/>
          <p:nvPr/>
        </p:nvSpPr>
        <p:spPr>
          <a:xfrm>
            <a:off x="749808"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Fiyat/indikatör bazlı push + e-posta bildirim</a:t>
            </a:r>
            <a:endParaRPr lang="en-US" sz="1000" dirty="0"/>
          </a:p>
        </p:txBody>
      </p:sp>
      <p:sp>
        <p:nvSpPr>
          <p:cNvPr id="29" name="Shape 22"/>
          <p:cNvSpPr/>
          <p:nvPr/>
        </p:nvSpPr>
        <p:spPr>
          <a:xfrm>
            <a:off x="3264408"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30" name="Shape 23"/>
          <p:cNvSpPr/>
          <p:nvPr/>
        </p:nvSpPr>
        <p:spPr>
          <a:xfrm>
            <a:off x="3483864" y="4059936"/>
            <a:ext cx="457200" cy="457200"/>
          </a:xfrm>
          <a:prstGeom prst="ellipse">
            <a:avLst/>
          </a:prstGeom>
          <a:solidFill>
            <a:srgbClr val="1E2126"/>
          </a:solidFill>
          <a:ln/>
        </p:spPr>
      </p:sp>
      <p:pic>
        <p:nvPicPr>
          <p:cNvPr id="31" name="Image 5" descr="/private/tmp/claude-501/-Users-ulasbudak-Desktop-borsa-app/e78c8e07-ac03-4beb-bcc3-115504839e4a/scratchpad/deck/icons/briefcase-accent.png">    </p:cNvPr>
          <p:cNvPicPr>
            <a:picLocks noChangeAspect="1"/>
          </p:cNvPicPr>
          <p:nvPr/>
        </p:nvPicPr>
        <p:blipFill>
          <a:blip r:embed="rId6"/>
          <a:stretch>
            <a:fillRect/>
          </a:stretch>
        </p:blipFill>
        <p:spPr>
          <a:xfrm>
            <a:off x="3543300" y="4119372"/>
            <a:ext cx="338328" cy="338328"/>
          </a:xfrm>
          <a:prstGeom prst="rect">
            <a:avLst/>
          </a:prstGeom>
        </p:spPr>
      </p:pic>
      <p:sp>
        <p:nvSpPr>
          <p:cNvPr id="32" name="Text 24"/>
          <p:cNvSpPr txBox="1"/>
          <p:nvPr/>
        </p:nvSpPr>
        <p:spPr>
          <a:xfrm>
            <a:off x="3465576"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Portföy Takibi</a:t>
            </a:r>
            <a:endParaRPr lang="en-US" sz="1250" dirty="0"/>
          </a:p>
        </p:txBody>
      </p:sp>
      <p:sp>
        <p:nvSpPr>
          <p:cNvPr id="33" name="Text 25"/>
          <p:cNvSpPr txBox="1"/>
          <p:nvPr/>
        </p:nvSpPr>
        <p:spPr>
          <a:xfrm>
            <a:off x="3465576"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Çoklu portföy, anlık kâr/zarar</a:t>
            </a:r>
            <a:endParaRPr lang="en-US" sz="1000" dirty="0"/>
          </a:p>
        </p:txBody>
      </p:sp>
      <p:sp>
        <p:nvSpPr>
          <p:cNvPr id="34" name="Shape 26"/>
          <p:cNvSpPr/>
          <p:nvPr/>
        </p:nvSpPr>
        <p:spPr>
          <a:xfrm>
            <a:off x="5980176"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35" name="Shape 27"/>
          <p:cNvSpPr/>
          <p:nvPr/>
        </p:nvSpPr>
        <p:spPr>
          <a:xfrm>
            <a:off x="6199632" y="4059936"/>
            <a:ext cx="457200" cy="457200"/>
          </a:xfrm>
          <a:prstGeom prst="ellipse">
            <a:avLst/>
          </a:prstGeom>
          <a:solidFill>
            <a:srgbClr val="1E2126"/>
          </a:solidFill>
          <a:ln/>
        </p:spPr>
      </p:sp>
      <p:pic>
        <p:nvPicPr>
          <p:cNvPr id="36" name="Image 6" descr="/private/tmp/claude-501/-Users-ulasbudak-Desktop-borsa-app/e78c8e07-ac03-4beb-bcc3-115504839e4a/scratchpad/deck/icons/user-accent.png">    </p:cNvPr>
          <p:cNvPicPr>
            <a:picLocks noChangeAspect="1"/>
          </p:cNvPicPr>
          <p:nvPr/>
        </p:nvPicPr>
        <p:blipFill>
          <a:blip r:embed="rId7"/>
          <a:stretch>
            <a:fillRect/>
          </a:stretch>
        </p:blipFill>
        <p:spPr>
          <a:xfrm>
            <a:off x="6259068" y="4119372"/>
            <a:ext cx="338328" cy="338328"/>
          </a:xfrm>
          <a:prstGeom prst="rect">
            <a:avLst/>
          </a:prstGeom>
        </p:spPr>
      </p:pic>
      <p:sp>
        <p:nvSpPr>
          <p:cNvPr id="37" name="Text 28"/>
          <p:cNvSpPr txBox="1"/>
          <p:nvPr/>
        </p:nvSpPr>
        <p:spPr>
          <a:xfrm>
            <a:off x="6181344"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Kişiselleştirme</a:t>
            </a:r>
            <a:endParaRPr lang="en-US" sz="1250" dirty="0"/>
          </a:p>
        </p:txBody>
      </p:sp>
      <p:sp>
        <p:nvSpPr>
          <p:cNvPr id="38" name="Text 29"/>
          <p:cNvSpPr txBox="1"/>
          <p:nvPr/>
        </p:nvSpPr>
        <p:spPr>
          <a:xfrm>
            <a:off x="6181344"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İlgi profili, sektör tercihleri, notlar</a:t>
            </a:r>
            <a:endParaRPr lang="en-US" sz="1000" dirty="0"/>
          </a:p>
        </p:txBody>
      </p:sp>
      <p:sp>
        <p:nvSpPr>
          <p:cNvPr id="39" name="Shape 30"/>
          <p:cNvSpPr/>
          <p:nvPr/>
        </p:nvSpPr>
        <p:spPr>
          <a:xfrm>
            <a:off x="8695944"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40" name="Shape 31"/>
          <p:cNvSpPr/>
          <p:nvPr/>
        </p:nvSpPr>
        <p:spPr>
          <a:xfrm>
            <a:off x="8915400" y="4059936"/>
            <a:ext cx="457200" cy="457200"/>
          </a:xfrm>
          <a:prstGeom prst="ellipse">
            <a:avLst/>
          </a:prstGeom>
          <a:solidFill>
            <a:srgbClr val="1E2126"/>
          </a:solidFill>
          <a:ln/>
        </p:spPr>
      </p:sp>
      <p:pic>
        <p:nvPicPr>
          <p:cNvPr id="41" name="Image 7" descr="/private/tmp/claude-501/-Users-ulasbudak-Desktop-borsa-app/e78c8e07-ac03-4beb-bcc3-115504839e4a/scratchpad/deck/icons/globe-accent.png">    </p:cNvPr>
          <p:cNvPicPr>
            <a:picLocks noChangeAspect="1"/>
          </p:cNvPicPr>
          <p:nvPr/>
        </p:nvPicPr>
        <p:blipFill>
          <a:blip r:embed="rId8"/>
          <a:stretch>
            <a:fillRect/>
          </a:stretch>
        </p:blipFill>
        <p:spPr>
          <a:xfrm>
            <a:off x="8974836" y="4119372"/>
            <a:ext cx="338328" cy="338328"/>
          </a:xfrm>
          <a:prstGeom prst="rect">
            <a:avLst/>
          </a:prstGeom>
        </p:spPr>
      </p:pic>
      <p:sp>
        <p:nvSpPr>
          <p:cNvPr id="42" name="Text 32"/>
          <p:cNvSpPr txBox="1"/>
          <p:nvPr/>
        </p:nvSpPr>
        <p:spPr>
          <a:xfrm>
            <a:off x="8897112"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TR / EN Lokalizasyon</a:t>
            </a:r>
            <a:endParaRPr lang="en-US" sz="1250" dirty="0"/>
          </a:p>
        </p:txBody>
      </p:sp>
      <p:sp>
        <p:nvSpPr>
          <p:cNvPr id="43" name="Text 33"/>
          <p:cNvSpPr txBox="1"/>
          <p:nvPr/>
        </p:nvSpPr>
        <p:spPr>
          <a:xfrm>
            <a:off x="8897112"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Tam Türkçe + İngilizce arayüz</a:t>
            </a:r>
            <a:endParaRPr lang="en-US" sz="1000" dirty="0"/>
          </a:p>
        </p:txBody>
      </p:sp>
      <p:sp>
        <p:nvSpPr>
          <p:cNvPr id="44" name="Text 34"/>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pic>
        <p:nvPicPr>
          <p:cNvPr id="45" name="Image 8" descr="/private/tmp/claude-501/-Users-ulasbudak-Desktop-borsa-app/e78c8e07-ac03-4beb-bcc3-115504839e4a/scratchpad/deck/logo_mark_accent.png">    </p:cNvPr>
          <p:cNvPicPr>
            <a:picLocks noChangeAspect="1"/>
          </p:cNvPicPr>
          <p:nvPr/>
        </p:nvPicPr>
        <p:blipFill>
          <a:blip r:embed="rId9"/>
          <a:stretch>
            <a:fillRect/>
          </a:stretch>
        </p:blipFill>
        <p:spPr>
          <a:xfrm>
            <a:off x="548640" y="6437376"/>
            <a:ext cx="173736" cy="173736"/>
          </a:xfrm>
          <a:prstGeom prst="rect">
            <a:avLst/>
          </a:prstGeom>
        </p:spPr>
      </p:pic>
      <p:sp>
        <p:nvSpPr>
          <p:cNvPr id="46" name="Text 35"/>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FARKLILAŞMA</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AI katmanı: aynı hisseye üç ayrı, şeffaf etiketli görüş</a:t>
            </a:r>
            <a:endParaRPr lang="en-US" sz="3000" dirty="0"/>
          </a:p>
        </p:txBody>
      </p:sp>
      <p:sp>
        <p:nvSpPr>
          <p:cNvPr id="4" name="Shape 2"/>
          <p:cNvSpPr/>
          <p:nvPr/>
        </p:nvSpPr>
        <p:spPr>
          <a:xfrm>
            <a:off x="548640"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1947672"/>
            <a:ext cx="512064" cy="512064"/>
          </a:xfrm>
          <a:prstGeom prst="ellipse">
            <a:avLst/>
          </a:prstGeom>
          <a:solidFill>
            <a:srgbClr val="3B82F6"/>
          </a:solidFill>
          <a:ln/>
        </p:spPr>
      </p:sp>
      <p:pic>
        <p:nvPicPr>
          <p:cNvPr id="6" name="Image 0" descr="/private/tmp/claude-501/-Users-ulasbudak-Desktop-borsa-app/e78c8e07-ac03-4beb-bcc3-115504839e4a/scratchpad/deck/icons/checkCircle-white.png">    </p:cNvPr>
          <p:cNvPicPr>
            <a:picLocks noChangeAspect="1"/>
          </p:cNvPicPr>
          <p:nvPr/>
        </p:nvPicPr>
        <p:blipFill>
          <a:blip r:embed="rId1"/>
          <a:stretch>
            <a:fillRect/>
          </a:stretch>
        </p:blipFill>
        <p:spPr>
          <a:xfrm>
            <a:off x="871240" y="2014240"/>
            <a:ext cx="378927" cy="378927"/>
          </a:xfrm>
          <a:prstGeom prst="rect">
            <a:avLst/>
          </a:prstGeom>
        </p:spPr>
      </p:pic>
      <p:sp>
        <p:nvSpPr>
          <p:cNvPr id="7" name="Shape 4"/>
          <p:cNvSpPr/>
          <p:nvPr/>
        </p:nvSpPr>
        <p:spPr>
          <a:xfrm>
            <a:off x="2267712" y="2020824"/>
            <a:ext cx="1371600" cy="310896"/>
          </a:xfrm>
          <a:prstGeom prst="roundRect">
            <a:avLst>
              <a:gd name="adj" fmla="val 50000"/>
            </a:avLst>
          </a:prstGeom>
          <a:solidFill>
            <a:srgbClr val="34D399">
              <a:alpha val="18000"/>
            </a:srgbClr>
          </a:solidFill>
          <a:ln w="9525">
            <a:solidFill>
              <a:srgbClr val="34D399"/>
            </a:solidFill>
            <a:prstDash val="solid"/>
          </a:ln>
        </p:spPr>
      </p:sp>
      <p:sp>
        <p:nvSpPr>
          <p:cNvPr id="8" name="Text 5"/>
          <p:cNvSpPr txBox="1"/>
          <p:nvPr/>
        </p:nvSpPr>
        <p:spPr>
          <a:xfrm>
            <a:off x="2267712" y="2020824"/>
            <a:ext cx="1371600" cy="310896"/>
          </a:xfrm>
          <a:prstGeom prst="rect">
            <a:avLst/>
          </a:prstGeom>
          <a:noFill/>
          <a:ln/>
        </p:spPr>
        <p:txBody>
          <a:bodyPr wrap="square" lIns="0" tIns="0" rIns="0" bIns="0" rtlCol="0" anchor="ctr"/>
          <a:lstStyle/>
          <a:p>
            <a:pPr algn="ctr" indent="0" marL="0">
              <a:buNone/>
            </a:pPr>
            <a:r>
              <a:rPr lang="en-US" sz="950" b="1" dirty="0">
                <a:solidFill>
                  <a:srgbClr val="34D399"/>
                </a:solidFill>
                <a:latin typeface="Calibri" pitchFamily="34" charset="0"/>
                <a:ea typeface="Calibri" pitchFamily="34" charset="-122"/>
                <a:cs typeface="Calibri" pitchFamily="34" charset="-120"/>
              </a:rPr>
              <a:t>Üretimde</a:t>
            </a:r>
            <a:endParaRPr lang="en-US" sz="950" dirty="0"/>
          </a:p>
        </p:txBody>
      </p:sp>
      <p:sp>
        <p:nvSpPr>
          <p:cNvPr id="9" name="Text 6"/>
          <p:cNvSpPr txBox="1"/>
          <p:nvPr/>
        </p:nvSpPr>
        <p:spPr>
          <a:xfrm>
            <a:off x="804672"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Kural Bazlı Skor</a:t>
            </a:r>
            <a:endParaRPr lang="en-US" sz="1500" dirty="0"/>
          </a:p>
        </p:txBody>
      </p:sp>
      <p:sp>
        <p:nvSpPr>
          <p:cNvPr id="10" name="Text 7"/>
          <p:cNvSpPr txBox="1"/>
          <p:nvPr/>
        </p:nvSpPr>
        <p:spPr>
          <a:xfrm>
            <a:off x="804672"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0-100 skor + Al/Nötr/Sat etiketi. Temel + teknik sinyallerin deterministik birleşimi.</a:t>
            </a:r>
            <a:endParaRPr lang="en-US" sz="1150" dirty="0"/>
          </a:p>
        </p:txBody>
      </p:sp>
      <p:sp>
        <p:nvSpPr>
          <p:cNvPr id="11" name="Shape 8"/>
          <p:cNvSpPr/>
          <p:nvPr/>
        </p:nvSpPr>
        <p:spPr>
          <a:xfrm>
            <a:off x="4187952"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4443984" y="1947672"/>
            <a:ext cx="512064" cy="512064"/>
          </a:xfrm>
          <a:prstGeom prst="ellipse">
            <a:avLst/>
          </a:prstGeom>
          <a:solidFill>
            <a:srgbClr val="3B82F6"/>
          </a:solidFill>
          <a:ln/>
        </p:spPr>
      </p:sp>
      <p:pic>
        <p:nvPicPr>
          <p:cNvPr id="13" name="Image 1" descr="/private/tmp/claude-501/-Users-ulasbudak-Desktop-borsa-app/e78c8e07-ac03-4beb-bcc3-115504839e4a/scratchpad/deck/icons/message-white.png">    </p:cNvPr>
          <p:cNvPicPr>
            <a:picLocks noChangeAspect="1"/>
          </p:cNvPicPr>
          <p:nvPr/>
        </p:nvPicPr>
        <p:blipFill>
          <a:blip r:embed="rId2"/>
          <a:stretch>
            <a:fillRect/>
          </a:stretch>
        </p:blipFill>
        <p:spPr>
          <a:xfrm>
            <a:off x="4510552" y="2014240"/>
            <a:ext cx="378927" cy="378927"/>
          </a:xfrm>
          <a:prstGeom prst="rect">
            <a:avLst/>
          </a:prstGeom>
        </p:spPr>
      </p:pic>
      <p:sp>
        <p:nvSpPr>
          <p:cNvPr id="14" name="Shape 10"/>
          <p:cNvSpPr/>
          <p:nvPr/>
        </p:nvSpPr>
        <p:spPr>
          <a:xfrm>
            <a:off x="5907024" y="2020824"/>
            <a:ext cx="1371600" cy="310896"/>
          </a:xfrm>
          <a:prstGeom prst="roundRect">
            <a:avLst>
              <a:gd name="adj" fmla="val 50000"/>
            </a:avLst>
          </a:prstGeom>
          <a:solidFill>
            <a:srgbClr val="3B82F6">
              <a:alpha val="18000"/>
            </a:srgbClr>
          </a:solidFill>
          <a:ln w="9525">
            <a:solidFill>
              <a:srgbClr val="3B82F6"/>
            </a:solidFill>
            <a:prstDash val="solid"/>
          </a:ln>
        </p:spPr>
      </p:sp>
      <p:sp>
        <p:nvSpPr>
          <p:cNvPr id="15" name="Text 11"/>
          <p:cNvSpPr txBox="1"/>
          <p:nvPr/>
        </p:nvSpPr>
        <p:spPr>
          <a:xfrm>
            <a:off x="5907024" y="2020824"/>
            <a:ext cx="1371600" cy="310896"/>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Yol haritasında</a:t>
            </a:r>
            <a:endParaRPr lang="en-US" sz="950" dirty="0"/>
          </a:p>
        </p:txBody>
      </p:sp>
      <p:sp>
        <p:nvSpPr>
          <p:cNvPr id="16" name="Text 12"/>
          <p:cNvSpPr txBox="1"/>
          <p:nvPr/>
        </p:nvSpPr>
        <p:spPr>
          <a:xfrm>
            <a:off x="4443984"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AI Temel Analiz Yorumu</a:t>
            </a:r>
            <a:endParaRPr lang="en-US" sz="1500" dirty="0"/>
          </a:p>
        </p:txBody>
      </p:sp>
      <p:sp>
        <p:nvSpPr>
          <p:cNvPr id="17" name="Text 13"/>
          <p:cNvSpPr txBox="1"/>
          <p:nvPr/>
        </p:nvSpPr>
        <p:spPr>
          <a:xfrm>
            <a:off x="4443984"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LLM ile serbest formatlı yorum — uygulamanın kendi temel verisiyle zeminlenir (RAG), salt eğitim verisine dayanmaz.</a:t>
            </a:r>
            <a:endParaRPr lang="en-US" sz="1150" dirty="0"/>
          </a:p>
        </p:txBody>
      </p:sp>
      <p:sp>
        <p:nvSpPr>
          <p:cNvPr id="18" name="Shape 14"/>
          <p:cNvSpPr/>
          <p:nvPr/>
        </p:nvSpPr>
        <p:spPr>
          <a:xfrm>
            <a:off x="7827264"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9" name="Shape 15"/>
          <p:cNvSpPr/>
          <p:nvPr/>
        </p:nvSpPr>
        <p:spPr>
          <a:xfrm>
            <a:off x="8083296" y="1947672"/>
            <a:ext cx="512064" cy="512064"/>
          </a:xfrm>
          <a:prstGeom prst="ellipse">
            <a:avLst/>
          </a:prstGeom>
          <a:solidFill>
            <a:srgbClr val="3B82F6"/>
          </a:solidFill>
          <a:ln/>
        </p:spPr>
      </p:sp>
      <p:pic>
        <p:nvPicPr>
          <p:cNvPr id="20" name="Image 2" descr="/private/tmp/claude-501/-Users-ulasbudak-Desktop-borsa-app/e78c8e07-ac03-4beb-bcc3-115504839e4a/scratchpad/deck/icons/activity-white.png">    </p:cNvPr>
          <p:cNvPicPr>
            <a:picLocks noChangeAspect="1"/>
          </p:cNvPicPr>
          <p:nvPr/>
        </p:nvPicPr>
        <p:blipFill>
          <a:blip r:embed="rId3"/>
          <a:stretch>
            <a:fillRect/>
          </a:stretch>
        </p:blipFill>
        <p:spPr>
          <a:xfrm>
            <a:off x="8149864" y="2014240"/>
            <a:ext cx="378927" cy="378927"/>
          </a:xfrm>
          <a:prstGeom prst="rect">
            <a:avLst/>
          </a:prstGeom>
        </p:spPr>
      </p:pic>
      <p:sp>
        <p:nvSpPr>
          <p:cNvPr id="21" name="Shape 16"/>
          <p:cNvSpPr/>
          <p:nvPr/>
        </p:nvSpPr>
        <p:spPr>
          <a:xfrm>
            <a:off x="9546336" y="2020824"/>
            <a:ext cx="1371600" cy="310896"/>
          </a:xfrm>
          <a:prstGeom prst="roundRect">
            <a:avLst>
              <a:gd name="adj" fmla="val 50000"/>
            </a:avLst>
          </a:prstGeom>
          <a:solidFill>
            <a:srgbClr val="3B82F6">
              <a:alpha val="18000"/>
            </a:srgbClr>
          </a:solidFill>
          <a:ln w="9525">
            <a:solidFill>
              <a:srgbClr val="3B82F6"/>
            </a:solidFill>
            <a:prstDash val="solid"/>
          </a:ln>
        </p:spPr>
      </p:sp>
      <p:sp>
        <p:nvSpPr>
          <p:cNvPr id="22" name="Text 17"/>
          <p:cNvSpPr txBox="1"/>
          <p:nvPr/>
        </p:nvSpPr>
        <p:spPr>
          <a:xfrm>
            <a:off x="9546336" y="2020824"/>
            <a:ext cx="1371600" cy="310896"/>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Yol haritasında</a:t>
            </a:r>
            <a:endParaRPr lang="en-US" sz="950" dirty="0"/>
          </a:p>
        </p:txBody>
      </p:sp>
      <p:sp>
        <p:nvSpPr>
          <p:cNvPr id="23" name="Text 18"/>
          <p:cNvSpPr txBox="1"/>
          <p:nvPr/>
        </p:nvSpPr>
        <p:spPr>
          <a:xfrm>
            <a:off x="8083296"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AI Teknik Okuma</a:t>
            </a:r>
            <a:endParaRPr lang="en-US" sz="1500" dirty="0"/>
          </a:p>
        </p:txBody>
      </p:sp>
      <p:sp>
        <p:nvSpPr>
          <p:cNvPr id="24" name="Text 19"/>
          <p:cNvSpPr txBox="1"/>
          <p:nvPr/>
        </p:nvSpPr>
        <p:spPr>
          <a:xfrm>
            <a:off x="8083296"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Önceden eğitilmiş bir görüntü-tanıma (CV) modeliyle candlestick grafik okuması — ayrı ve açıkça etiketlenmiş bir "ikinci görüş".</a:t>
            </a:r>
            <a:endParaRPr lang="en-US" sz="1150" dirty="0"/>
          </a:p>
        </p:txBody>
      </p:sp>
      <p:sp>
        <p:nvSpPr>
          <p:cNvPr id="25" name="Text 20"/>
          <p:cNvSpPr txBox="1"/>
          <p:nvPr/>
        </p:nvSpPr>
        <p:spPr>
          <a:xfrm>
            <a:off x="548640" y="5166360"/>
            <a:ext cx="10607040" cy="594360"/>
          </a:xfrm>
          <a:prstGeom prst="rect">
            <a:avLst/>
          </a:prstGeom>
          <a:noFill/>
          <a:ln/>
        </p:spPr>
        <p:txBody>
          <a:bodyPr wrap="square" lIns="0" tIns="0" rIns="0" bIns="0" rtlCol="0" anchor="ctr"/>
          <a:lstStyle/>
          <a:p>
            <a:pPr indent="0" marL="0">
              <a:lnSpc>
                <a:spcPct val="125000"/>
              </a:lnSpc>
              <a:buNone/>
            </a:pPr>
            <a:r>
              <a:rPr lang="en-US" sz="1150" i="1" dirty="0">
                <a:solidFill>
                  <a:srgbClr val="6B7280"/>
                </a:solidFill>
                <a:latin typeface="Calibri" pitchFamily="34" charset="0"/>
                <a:ea typeface="Calibri" pitchFamily="34" charset="-122"/>
                <a:cs typeface="Calibri" pitchFamily="34" charset="-120"/>
              </a:rPr>
              <a:t>Üç görüş birbirinden bağımsız ve şeffaf şekilde sunulur — “tavsiye” değil, “örüntü/sinyal bulgusu” dilinde. Tüm ekranlarda “yatırım tavsiyesi değildir” ibaresi bulunur.</a:t>
            </a:r>
            <a:endParaRPr lang="en-US" sz="1150" dirty="0"/>
          </a:p>
        </p:txBody>
      </p:sp>
      <p:sp>
        <p:nvSpPr>
          <p:cNvPr id="26" name="Text 21"/>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pic>
        <p:nvPicPr>
          <p:cNvPr id="27" name="Image 3" descr="/private/tmp/claude-501/-Users-ulasbudak-Desktop-borsa-app/e78c8e07-ac03-4beb-bcc3-115504839e4a/scratchpad/deck/logo_mark_accent.png">    </p:cNvPr>
          <p:cNvPicPr>
            <a:picLocks noChangeAspect="1"/>
          </p:cNvPicPr>
          <p:nvPr/>
        </p:nvPicPr>
        <p:blipFill>
          <a:blip r:embed="rId4"/>
          <a:stretch>
            <a:fillRect/>
          </a:stretch>
        </p:blipFill>
        <p:spPr>
          <a:xfrm>
            <a:off x="548640" y="6437376"/>
            <a:ext cx="173736" cy="173736"/>
          </a:xfrm>
          <a:prstGeom prst="rect">
            <a:avLst/>
          </a:prstGeom>
        </p:spPr>
      </p:pic>
      <p:sp>
        <p:nvSpPr>
          <p:cNvPr id="28" name="Text 22"/>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KONUMLANDIRMA</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Kimse bu dördünü aynı anda sunmuyor</a:t>
            </a:r>
            <a:endParaRPr lang="en-US" sz="3000" dirty="0"/>
          </a:p>
        </p:txBody>
      </p:sp>
      <p:sp>
        <p:nvSpPr>
          <p:cNvPr id="4" name="Shape 2"/>
          <p:cNvSpPr/>
          <p:nvPr/>
        </p:nvSpPr>
        <p:spPr>
          <a:xfrm>
            <a:off x="548640" y="1691640"/>
            <a:ext cx="3108960" cy="502920"/>
          </a:xfrm>
          <a:prstGeom prst="rect">
            <a:avLst/>
          </a:prstGeom>
          <a:solidFill>
            <a:srgbClr val="1E2126"/>
          </a:solidFill>
          <a:ln w="6350">
            <a:solidFill>
              <a:srgbClr val="2E3239"/>
            </a:solidFill>
            <a:prstDash val="solid"/>
          </a:ln>
        </p:spPr>
      </p:sp>
      <p:sp>
        <p:nvSpPr>
          <p:cNvPr id="5" name="Text 3"/>
          <p:cNvSpPr txBox="1"/>
          <p:nvPr/>
        </p:nvSpPr>
        <p:spPr>
          <a:xfrm>
            <a:off x="640080" y="1691640"/>
            <a:ext cx="2926080" cy="502920"/>
          </a:xfrm>
          <a:prstGeom prst="rect">
            <a:avLst/>
          </a:prstGeom>
          <a:noFill/>
          <a:ln/>
        </p:spPr>
        <p:txBody>
          <a:bodyPr wrap="square" lIns="0" tIns="0" rIns="0" bIns="0" rtlCol="0" anchor="ctr"/>
          <a:lstStyle/>
          <a:p>
            <a:pPr algn="l" indent="0" marL="0">
              <a:buNone/>
            </a:pPr>
            <a:r>
              <a:rPr lang="en-US" sz="1100" b="1" dirty="0">
                <a:solidFill>
                  <a:srgbClr val="F4F5F7"/>
                </a:solidFill>
                <a:latin typeface="Calibri" pitchFamily="34" charset="0"/>
                <a:ea typeface="Calibri" pitchFamily="34" charset="-122"/>
                <a:cs typeface="Calibri" pitchFamily="34" charset="-120"/>
              </a:rPr>
              <a:t>Kriter</a:t>
            </a:r>
            <a:endParaRPr lang="en-US" sz="1100" dirty="0"/>
          </a:p>
        </p:txBody>
      </p:sp>
      <p:sp>
        <p:nvSpPr>
          <p:cNvPr id="6" name="Shape 4"/>
          <p:cNvSpPr/>
          <p:nvPr/>
        </p:nvSpPr>
        <p:spPr>
          <a:xfrm>
            <a:off x="3657600" y="1691640"/>
            <a:ext cx="1874520" cy="502920"/>
          </a:xfrm>
          <a:prstGeom prst="rect">
            <a:avLst/>
          </a:prstGeom>
          <a:solidFill>
            <a:srgbClr val="3B82F6"/>
          </a:solidFill>
          <a:ln w="6350">
            <a:solidFill>
              <a:srgbClr val="2E3239"/>
            </a:solidFill>
            <a:prstDash val="solid"/>
          </a:ln>
        </p:spPr>
      </p:sp>
      <p:sp>
        <p:nvSpPr>
          <p:cNvPr id="7" name="Text 5"/>
          <p:cNvSpPr txBox="1"/>
          <p:nvPr/>
        </p:nvSpPr>
        <p:spPr>
          <a:xfrm>
            <a:off x="3749040" y="1691640"/>
            <a:ext cx="16916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Borocean</a:t>
            </a:r>
            <a:endParaRPr lang="en-US" sz="1100" dirty="0"/>
          </a:p>
        </p:txBody>
      </p:sp>
      <p:sp>
        <p:nvSpPr>
          <p:cNvPr id="8" name="Shape 6"/>
          <p:cNvSpPr/>
          <p:nvPr/>
        </p:nvSpPr>
        <p:spPr>
          <a:xfrm>
            <a:off x="5532120" y="1691640"/>
            <a:ext cx="1874520" cy="502920"/>
          </a:xfrm>
          <a:prstGeom prst="rect">
            <a:avLst/>
          </a:prstGeom>
          <a:solidFill>
            <a:srgbClr val="1E2126"/>
          </a:solidFill>
          <a:ln w="6350">
            <a:solidFill>
              <a:srgbClr val="2E3239"/>
            </a:solidFill>
            <a:prstDash val="solid"/>
          </a:ln>
        </p:spPr>
      </p:sp>
      <p:sp>
        <p:nvSpPr>
          <p:cNvPr id="9" name="Text 7"/>
          <p:cNvSpPr txBox="1"/>
          <p:nvPr/>
        </p:nvSpPr>
        <p:spPr>
          <a:xfrm>
            <a:off x="562356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TradingView</a:t>
            </a:r>
            <a:endParaRPr lang="en-US" sz="1100" dirty="0"/>
          </a:p>
        </p:txBody>
      </p:sp>
      <p:sp>
        <p:nvSpPr>
          <p:cNvPr id="10" name="Shape 8"/>
          <p:cNvSpPr/>
          <p:nvPr/>
        </p:nvSpPr>
        <p:spPr>
          <a:xfrm>
            <a:off x="7406640" y="1691640"/>
            <a:ext cx="1874520" cy="502920"/>
          </a:xfrm>
          <a:prstGeom prst="rect">
            <a:avLst/>
          </a:prstGeom>
          <a:solidFill>
            <a:srgbClr val="1E2126"/>
          </a:solidFill>
          <a:ln w="6350">
            <a:solidFill>
              <a:srgbClr val="2E3239"/>
            </a:solidFill>
            <a:prstDash val="solid"/>
          </a:ln>
        </p:spPr>
      </p:sp>
      <p:sp>
        <p:nvSpPr>
          <p:cNvPr id="11" name="Text 9"/>
          <p:cNvSpPr txBox="1"/>
          <p:nvPr/>
        </p:nvSpPr>
        <p:spPr>
          <a:xfrm>
            <a:off x="749808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Yahoo / Investing.com</a:t>
            </a:r>
            <a:endParaRPr lang="en-US" sz="1100" dirty="0"/>
          </a:p>
        </p:txBody>
      </p:sp>
      <p:sp>
        <p:nvSpPr>
          <p:cNvPr id="12" name="Shape 10"/>
          <p:cNvSpPr/>
          <p:nvPr/>
        </p:nvSpPr>
        <p:spPr>
          <a:xfrm>
            <a:off x="9281160" y="1691640"/>
            <a:ext cx="1874520" cy="502920"/>
          </a:xfrm>
          <a:prstGeom prst="rect">
            <a:avLst/>
          </a:prstGeom>
          <a:solidFill>
            <a:srgbClr val="1E2126"/>
          </a:solidFill>
          <a:ln w="6350">
            <a:solidFill>
              <a:srgbClr val="2E3239"/>
            </a:solidFill>
            <a:prstDash val="solid"/>
          </a:ln>
        </p:spPr>
      </p:sp>
      <p:sp>
        <p:nvSpPr>
          <p:cNvPr id="13" name="Text 11"/>
          <p:cNvSpPr txBox="1"/>
          <p:nvPr/>
        </p:nvSpPr>
        <p:spPr>
          <a:xfrm>
            <a:off x="937260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Aracı Kurum Uygulamaları</a:t>
            </a:r>
            <a:endParaRPr lang="en-US" sz="1100" dirty="0"/>
          </a:p>
        </p:txBody>
      </p:sp>
      <p:sp>
        <p:nvSpPr>
          <p:cNvPr id="14" name="Shape 12"/>
          <p:cNvSpPr/>
          <p:nvPr/>
        </p:nvSpPr>
        <p:spPr>
          <a:xfrm>
            <a:off x="548640" y="2194560"/>
            <a:ext cx="3108960" cy="566928"/>
          </a:xfrm>
          <a:prstGeom prst="rect">
            <a:avLst/>
          </a:prstGeom>
          <a:solidFill>
            <a:srgbClr val="121417"/>
          </a:solidFill>
          <a:ln w="6350">
            <a:solidFill>
              <a:srgbClr val="23262B"/>
            </a:solidFill>
            <a:prstDash val="solid"/>
          </a:ln>
        </p:spPr>
      </p:sp>
      <p:sp>
        <p:nvSpPr>
          <p:cNvPr id="15" name="Text 13"/>
          <p:cNvSpPr txBox="1"/>
          <p:nvPr/>
        </p:nvSpPr>
        <p:spPr>
          <a:xfrm>
            <a:off x="685800" y="2194560"/>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BIST derinliği</a:t>
            </a:r>
            <a:endParaRPr lang="en-US" sz="1100" dirty="0"/>
          </a:p>
        </p:txBody>
      </p:sp>
      <p:sp>
        <p:nvSpPr>
          <p:cNvPr id="16" name="Shape 14"/>
          <p:cNvSpPr/>
          <p:nvPr/>
        </p:nvSpPr>
        <p:spPr>
          <a:xfrm>
            <a:off x="3657600" y="2194560"/>
            <a:ext cx="1874520" cy="566928"/>
          </a:xfrm>
          <a:prstGeom prst="rect">
            <a:avLst/>
          </a:prstGeom>
          <a:solidFill>
            <a:srgbClr val="1E2126"/>
          </a:solidFill>
          <a:ln w="6350">
            <a:solidFill>
              <a:srgbClr val="23262B"/>
            </a:solidFill>
            <a:prstDash val="solid"/>
          </a:ln>
        </p:spPr>
      </p:sp>
      <p:sp>
        <p:nvSpPr>
          <p:cNvPr id="17" name="Text 15"/>
          <p:cNvSpPr txBox="1"/>
          <p:nvPr/>
        </p:nvSpPr>
        <p:spPr>
          <a:xfrm>
            <a:off x="3657600" y="2194560"/>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532120" y="2194560"/>
            <a:ext cx="1874520" cy="566928"/>
          </a:xfrm>
          <a:prstGeom prst="rect">
            <a:avLst/>
          </a:prstGeom>
          <a:solidFill>
            <a:srgbClr val="121417"/>
          </a:solidFill>
          <a:ln w="6350">
            <a:solidFill>
              <a:srgbClr val="23262B"/>
            </a:solidFill>
            <a:prstDash val="solid"/>
          </a:ln>
        </p:spPr>
      </p:sp>
      <p:sp>
        <p:nvSpPr>
          <p:cNvPr id="19" name="Text 17"/>
          <p:cNvSpPr txBox="1"/>
          <p:nvPr/>
        </p:nvSpPr>
        <p:spPr>
          <a:xfrm>
            <a:off x="5532120" y="2194560"/>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406640" y="2194560"/>
            <a:ext cx="1874520" cy="566928"/>
          </a:xfrm>
          <a:prstGeom prst="rect">
            <a:avLst/>
          </a:prstGeom>
          <a:solidFill>
            <a:srgbClr val="121417"/>
          </a:solidFill>
          <a:ln w="6350">
            <a:solidFill>
              <a:srgbClr val="23262B"/>
            </a:solidFill>
            <a:prstDash val="solid"/>
          </a:ln>
        </p:spPr>
      </p:sp>
      <p:sp>
        <p:nvSpPr>
          <p:cNvPr id="21" name="Text 19"/>
          <p:cNvSpPr txBox="1"/>
          <p:nvPr/>
        </p:nvSpPr>
        <p:spPr>
          <a:xfrm>
            <a:off x="7406640" y="2194560"/>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281160" y="2194560"/>
            <a:ext cx="1874520" cy="566928"/>
          </a:xfrm>
          <a:prstGeom prst="rect">
            <a:avLst/>
          </a:prstGeom>
          <a:solidFill>
            <a:srgbClr val="121417"/>
          </a:solidFill>
          <a:ln w="6350">
            <a:solidFill>
              <a:srgbClr val="23262B"/>
            </a:solidFill>
            <a:prstDash val="solid"/>
          </a:ln>
        </p:spPr>
      </p:sp>
      <p:sp>
        <p:nvSpPr>
          <p:cNvPr id="23" name="Text 21"/>
          <p:cNvSpPr txBox="1"/>
          <p:nvPr/>
        </p:nvSpPr>
        <p:spPr>
          <a:xfrm>
            <a:off x="9281160" y="2194560"/>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8640" y="2761488"/>
            <a:ext cx="3108960" cy="566928"/>
          </a:xfrm>
          <a:prstGeom prst="rect">
            <a:avLst/>
          </a:prstGeom>
          <a:solidFill>
            <a:srgbClr val="0A0B0D"/>
          </a:solidFill>
          <a:ln w="6350">
            <a:solidFill>
              <a:srgbClr val="23262B"/>
            </a:solidFill>
            <a:prstDash val="solid"/>
          </a:ln>
        </p:spPr>
      </p:sp>
      <p:sp>
        <p:nvSpPr>
          <p:cNvPr id="25" name="Text 23"/>
          <p:cNvSpPr txBox="1"/>
          <p:nvPr/>
        </p:nvSpPr>
        <p:spPr>
          <a:xfrm>
            <a:off x="685800" y="2761488"/>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Temel + sektör kıyaslama</a:t>
            </a:r>
            <a:endParaRPr lang="en-US" sz="1100" dirty="0"/>
          </a:p>
        </p:txBody>
      </p:sp>
      <p:sp>
        <p:nvSpPr>
          <p:cNvPr id="26" name="Shape 24"/>
          <p:cNvSpPr/>
          <p:nvPr/>
        </p:nvSpPr>
        <p:spPr>
          <a:xfrm>
            <a:off x="3657600" y="2761488"/>
            <a:ext cx="1874520" cy="566928"/>
          </a:xfrm>
          <a:prstGeom prst="rect">
            <a:avLst/>
          </a:prstGeom>
          <a:solidFill>
            <a:srgbClr val="1E2126"/>
          </a:solidFill>
          <a:ln w="6350">
            <a:solidFill>
              <a:srgbClr val="23262B"/>
            </a:solidFill>
            <a:prstDash val="solid"/>
          </a:ln>
        </p:spPr>
      </p:sp>
      <p:sp>
        <p:nvSpPr>
          <p:cNvPr id="27" name="Text 25"/>
          <p:cNvSpPr txBox="1"/>
          <p:nvPr/>
        </p:nvSpPr>
        <p:spPr>
          <a:xfrm>
            <a:off x="3657600" y="2761488"/>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5532120" y="2761488"/>
            <a:ext cx="1874520" cy="566928"/>
          </a:xfrm>
          <a:prstGeom prst="rect">
            <a:avLst/>
          </a:prstGeom>
          <a:solidFill>
            <a:srgbClr val="0A0B0D"/>
          </a:solidFill>
          <a:ln w="6350">
            <a:solidFill>
              <a:srgbClr val="23262B"/>
            </a:solidFill>
            <a:prstDash val="solid"/>
          </a:ln>
        </p:spPr>
      </p:sp>
      <p:sp>
        <p:nvSpPr>
          <p:cNvPr id="29" name="Text 27"/>
          <p:cNvSpPr txBox="1"/>
          <p:nvPr/>
        </p:nvSpPr>
        <p:spPr>
          <a:xfrm>
            <a:off x="5532120" y="2761488"/>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7406640" y="2761488"/>
            <a:ext cx="1874520" cy="566928"/>
          </a:xfrm>
          <a:prstGeom prst="rect">
            <a:avLst/>
          </a:prstGeom>
          <a:solidFill>
            <a:srgbClr val="0A0B0D"/>
          </a:solidFill>
          <a:ln w="6350">
            <a:solidFill>
              <a:srgbClr val="23262B"/>
            </a:solidFill>
            <a:prstDash val="solid"/>
          </a:ln>
        </p:spPr>
      </p:sp>
      <p:sp>
        <p:nvSpPr>
          <p:cNvPr id="31" name="Text 29"/>
          <p:cNvSpPr txBox="1"/>
          <p:nvPr/>
        </p:nvSpPr>
        <p:spPr>
          <a:xfrm>
            <a:off x="7406640" y="2761488"/>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9281160" y="2761488"/>
            <a:ext cx="1874520" cy="566928"/>
          </a:xfrm>
          <a:prstGeom prst="rect">
            <a:avLst/>
          </a:prstGeom>
          <a:solidFill>
            <a:srgbClr val="0A0B0D"/>
          </a:solidFill>
          <a:ln w="6350">
            <a:solidFill>
              <a:srgbClr val="23262B"/>
            </a:solidFill>
            <a:prstDash val="solid"/>
          </a:ln>
        </p:spPr>
      </p:sp>
      <p:sp>
        <p:nvSpPr>
          <p:cNvPr id="33" name="Text 31"/>
          <p:cNvSpPr txBox="1"/>
          <p:nvPr/>
        </p:nvSpPr>
        <p:spPr>
          <a:xfrm>
            <a:off x="9281160" y="2761488"/>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548640" y="3328416"/>
            <a:ext cx="3108960" cy="566928"/>
          </a:xfrm>
          <a:prstGeom prst="rect">
            <a:avLst/>
          </a:prstGeom>
          <a:solidFill>
            <a:srgbClr val="121417"/>
          </a:solidFill>
          <a:ln w="6350">
            <a:solidFill>
              <a:srgbClr val="23262B"/>
            </a:solidFill>
            <a:prstDash val="solid"/>
          </a:ln>
        </p:spPr>
      </p:sp>
      <p:sp>
        <p:nvSpPr>
          <p:cNvPr id="35" name="Text 33"/>
          <p:cNvSpPr txBox="1"/>
          <p:nvPr/>
        </p:nvSpPr>
        <p:spPr>
          <a:xfrm>
            <a:off x="685800" y="3328416"/>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AI destekli 2. görüş</a:t>
            </a:r>
            <a:endParaRPr lang="en-US" sz="1100" dirty="0"/>
          </a:p>
        </p:txBody>
      </p:sp>
      <p:sp>
        <p:nvSpPr>
          <p:cNvPr id="36" name="Shape 34"/>
          <p:cNvSpPr/>
          <p:nvPr/>
        </p:nvSpPr>
        <p:spPr>
          <a:xfrm>
            <a:off x="3657600" y="3328416"/>
            <a:ext cx="1874520" cy="566928"/>
          </a:xfrm>
          <a:prstGeom prst="rect">
            <a:avLst/>
          </a:prstGeom>
          <a:solidFill>
            <a:srgbClr val="1E2126"/>
          </a:solidFill>
          <a:ln w="6350">
            <a:solidFill>
              <a:srgbClr val="23262B"/>
            </a:solidFill>
            <a:prstDash val="solid"/>
          </a:ln>
        </p:spPr>
      </p:sp>
      <p:sp>
        <p:nvSpPr>
          <p:cNvPr id="37" name="Text 35"/>
          <p:cNvSpPr txBox="1"/>
          <p:nvPr/>
        </p:nvSpPr>
        <p:spPr>
          <a:xfrm>
            <a:off x="3657600" y="3328416"/>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38" name="Shape 36"/>
          <p:cNvSpPr/>
          <p:nvPr/>
        </p:nvSpPr>
        <p:spPr>
          <a:xfrm>
            <a:off x="5532120" y="3328416"/>
            <a:ext cx="1874520" cy="566928"/>
          </a:xfrm>
          <a:prstGeom prst="rect">
            <a:avLst/>
          </a:prstGeom>
          <a:solidFill>
            <a:srgbClr val="121417"/>
          </a:solidFill>
          <a:ln w="6350">
            <a:solidFill>
              <a:srgbClr val="23262B"/>
            </a:solidFill>
            <a:prstDash val="solid"/>
          </a:ln>
        </p:spPr>
      </p:sp>
      <p:sp>
        <p:nvSpPr>
          <p:cNvPr id="39" name="Text 37"/>
          <p:cNvSpPr txBox="1"/>
          <p:nvPr/>
        </p:nvSpPr>
        <p:spPr>
          <a:xfrm>
            <a:off x="553212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7406640" y="3328416"/>
            <a:ext cx="1874520" cy="566928"/>
          </a:xfrm>
          <a:prstGeom prst="rect">
            <a:avLst/>
          </a:prstGeom>
          <a:solidFill>
            <a:srgbClr val="121417"/>
          </a:solidFill>
          <a:ln w="6350">
            <a:solidFill>
              <a:srgbClr val="23262B"/>
            </a:solidFill>
            <a:prstDash val="solid"/>
          </a:ln>
        </p:spPr>
      </p:sp>
      <p:sp>
        <p:nvSpPr>
          <p:cNvPr id="41" name="Text 39"/>
          <p:cNvSpPr txBox="1"/>
          <p:nvPr/>
        </p:nvSpPr>
        <p:spPr>
          <a:xfrm>
            <a:off x="740664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2" name="Shape 40"/>
          <p:cNvSpPr/>
          <p:nvPr/>
        </p:nvSpPr>
        <p:spPr>
          <a:xfrm>
            <a:off x="9281160" y="3328416"/>
            <a:ext cx="1874520" cy="566928"/>
          </a:xfrm>
          <a:prstGeom prst="rect">
            <a:avLst/>
          </a:prstGeom>
          <a:solidFill>
            <a:srgbClr val="121417"/>
          </a:solidFill>
          <a:ln w="6350">
            <a:solidFill>
              <a:srgbClr val="23262B"/>
            </a:solidFill>
            <a:prstDash val="solid"/>
          </a:ln>
        </p:spPr>
      </p:sp>
      <p:sp>
        <p:nvSpPr>
          <p:cNvPr id="43" name="Text 41"/>
          <p:cNvSpPr txBox="1"/>
          <p:nvPr/>
        </p:nvSpPr>
        <p:spPr>
          <a:xfrm>
            <a:off x="928116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4" name="Shape 42"/>
          <p:cNvSpPr/>
          <p:nvPr/>
        </p:nvSpPr>
        <p:spPr>
          <a:xfrm>
            <a:off x="548640" y="3895344"/>
            <a:ext cx="3108960" cy="566928"/>
          </a:xfrm>
          <a:prstGeom prst="rect">
            <a:avLst/>
          </a:prstGeom>
          <a:solidFill>
            <a:srgbClr val="0A0B0D"/>
          </a:solidFill>
          <a:ln w="6350">
            <a:solidFill>
              <a:srgbClr val="23262B"/>
            </a:solidFill>
            <a:prstDash val="solid"/>
          </a:ln>
        </p:spPr>
      </p:sp>
      <p:sp>
        <p:nvSpPr>
          <p:cNvPr id="45" name="Text 43"/>
          <p:cNvSpPr txBox="1"/>
          <p:nvPr/>
        </p:nvSpPr>
        <p:spPr>
          <a:xfrm>
            <a:off x="685800" y="3895344"/>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Tarafsızlık (komisyon yok)</a:t>
            </a:r>
            <a:endParaRPr lang="en-US" sz="1100" dirty="0"/>
          </a:p>
        </p:txBody>
      </p:sp>
      <p:sp>
        <p:nvSpPr>
          <p:cNvPr id="46" name="Shape 44"/>
          <p:cNvSpPr/>
          <p:nvPr/>
        </p:nvSpPr>
        <p:spPr>
          <a:xfrm>
            <a:off x="3657600" y="3895344"/>
            <a:ext cx="1874520" cy="566928"/>
          </a:xfrm>
          <a:prstGeom prst="rect">
            <a:avLst/>
          </a:prstGeom>
          <a:solidFill>
            <a:srgbClr val="1E2126"/>
          </a:solidFill>
          <a:ln w="6350">
            <a:solidFill>
              <a:srgbClr val="23262B"/>
            </a:solidFill>
            <a:prstDash val="solid"/>
          </a:ln>
        </p:spPr>
      </p:sp>
      <p:sp>
        <p:nvSpPr>
          <p:cNvPr id="47" name="Text 45"/>
          <p:cNvSpPr txBox="1"/>
          <p:nvPr/>
        </p:nvSpPr>
        <p:spPr>
          <a:xfrm>
            <a:off x="365760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48" name="Shape 46"/>
          <p:cNvSpPr/>
          <p:nvPr/>
        </p:nvSpPr>
        <p:spPr>
          <a:xfrm>
            <a:off x="5532120" y="3895344"/>
            <a:ext cx="1874520" cy="566928"/>
          </a:xfrm>
          <a:prstGeom prst="rect">
            <a:avLst/>
          </a:prstGeom>
          <a:solidFill>
            <a:srgbClr val="0A0B0D"/>
          </a:solidFill>
          <a:ln w="6350">
            <a:solidFill>
              <a:srgbClr val="23262B"/>
            </a:solidFill>
            <a:prstDash val="solid"/>
          </a:ln>
        </p:spPr>
      </p:sp>
      <p:sp>
        <p:nvSpPr>
          <p:cNvPr id="49" name="Text 47"/>
          <p:cNvSpPr txBox="1"/>
          <p:nvPr/>
        </p:nvSpPr>
        <p:spPr>
          <a:xfrm>
            <a:off x="553212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0" name="Shape 48"/>
          <p:cNvSpPr/>
          <p:nvPr/>
        </p:nvSpPr>
        <p:spPr>
          <a:xfrm>
            <a:off x="7406640" y="3895344"/>
            <a:ext cx="1874520" cy="566928"/>
          </a:xfrm>
          <a:prstGeom prst="rect">
            <a:avLst/>
          </a:prstGeom>
          <a:solidFill>
            <a:srgbClr val="0A0B0D"/>
          </a:solidFill>
          <a:ln w="6350">
            <a:solidFill>
              <a:srgbClr val="23262B"/>
            </a:solidFill>
            <a:prstDash val="solid"/>
          </a:ln>
        </p:spPr>
      </p:sp>
      <p:sp>
        <p:nvSpPr>
          <p:cNvPr id="51" name="Text 49"/>
          <p:cNvSpPr txBox="1"/>
          <p:nvPr/>
        </p:nvSpPr>
        <p:spPr>
          <a:xfrm>
            <a:off x="740664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2" name="Shape 50"/>
          <p:cNvSpPr/>
          <p:nvPr/>
        </p:nvSpPr>
        <p:spPr>
          <a:xfrm>
            <a:off x="9281160" y="3895344"/>
            <a:ext cx="1874520" cy="566928"/>
          </a:xfrm>
          <a:prstGeom prst="rect">
            <a:avLst/>
          </a:prstGeom>
          <a:solidFill>
            <a:srgbClr val="0A0B0D"/>
          </a:solidFill>
          <a:ln w="6350">
            <a:solidFill>
              <a:srgbClr val="23262B"/>
            </a:solidFill>
            <a:prstDash val="solid"/>
          </a:ln>
        </p:spPr>
      </p:sp>
      <p:sp>
        <p:nvSpPr>
          <p:cNvPr id="53" name="Text 51"/>
          <p:cNvSpPr txBox="1"/>
          <p:nvPr/>
        </p:nvSpPr>
        <p:spPr>
          <a:xfrm>
            <a:off x="9281160" y="3895344"/>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54" name="Shape 52"/>
          <p:cNvSpPr/>
          <p:nvPr/>
        </p:nvSpPr>
        <p:spPr>
          <a:xfrm>
            <a:off x="548640" y="4462272"/>
            <a:ext cx="3108960" cy="566928"/>
          </a:xfrm>
          <a:prstGeom prst="rect">
            <a:avLst/>
          </a:prstGeom>
          <a:solidFill>
            <a:srgbClr val="121417"/>
          </a:solidFill>
          <a:ln w="6350">
            <a:solidFill>
              <a:srgbClr val="23262B"/>
            </a:solidFill>
            <a:prstDash val="solid"/>
          </a:ln>
        </p:spPr>
      </p:sp>
      <p:sp>
        <p:nvSpPr>
          <p:cNvPr id="55" name="Text 53"/>
          <p:cNvSpPr txBox="1"/>
          <p:nvPr/>
        </p:nvSpPr>
        <p:spPr>
          <a:xfrm>
            <a:off x="685800" y="4462272"/>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Tam Türkçe deneyim</a:t>
            </a:r>
            <a:endParaRPr lang="en-US" sz="1100" dirty="0"/>
          </a:p>
        </p:txBody>
      </p:sp>
      <p:sp>
        <p:nvSpPr>
          <p:cNvPr id="56" name="Shape 54"/>
          <p:cNvSpPr/>
          <p:nvPr/>
        </p:nvSpPr>
        <p:spPr>
          <a:xfrm>
            <a:off x="3657600" y="4462272"/>
            <a:ext cx="1874520" cy="566928"/>
          </a:xfrm>
          <a:prstGeom prst="rect">
            <a:avLst/>
          </a:prstGeom>
          <a:solidFill>
            <a:srgbClr val="1E2126"/>
          </a:solidFill>
          <a:ln w="6350">
            <a:solidFill>
              <a:srgbClr val="23262B"/>
            </a:solidFill>
            <a:prstDash val="solid"/>
          </a:ln>
        </p:spPr>
      </p:sp>
      <p:sp>
        <p:nvSpPr>
          <p:cNvPr id="57" name="Text 55"/>
          <p:cNvSpPr txBox="1"/>
          <p:nvPr/>
        </p:nvSpPr>
        <p:spPr>
          <a:xfrm>
            <a:off x="365760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8" name="Shape 56"/>
          <p:cNvSpPr/>
          <p:nvPr/>
        </p:nvSpPr>
        <p:spPr>
          <a:xfrm>
            <a:off x="5532120" y="4462272"/>
            <a:ext cx="1874520" cy="566928"/>
          </a:xfrm>
          <a:prstGeom prst="rect">
            <a:avLst/>
          </a:prstGeom>
          <a:solidFill>
            <a:srgbClr val="121417"/>
          </a:solidFill>
          <a:ln w="6350">
            <a:solidFill>
              <a:srgbClr val="23262B"/>
            </a:solidFill>
            <a:prstDash val="solid"/>
          </a:ln>
        </p:spPr>
      </p:sp>
      <p:sp>
        <p:nvSpPr>
          <p:cNvPr id="59" name="Text 57"/>
          <p:cNvSpPr txBox="1"/>
          <p:nvPr/>
        </p:nvSpPr>
        <p:spPr>
          <a:xfrm>
            <a:off x="5532120" y="4462272"/>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60" name="Shape 58"/>
          <p:cNvSpPr/>
          <p:nvPr/>
        </p:nvSpPr>
        <p:spPr>
          <a:xfrm>
            <a:off x="7406640" y="4462272"/>
            <a:ext cx="1874520" cy="566928"/>
          </a:xfrm>
          <a:prstGeom prst="rect">
            <a:avLst/>
          </a:prstGeom>
          <a:solidFill>
            <a:srgbClr val="121417"/>
          </a:solidFill>
          <a:ln w="6350">
            <a:solidFill>
              <a:srgbClr val="23262B"/>
            </a:solidFill>
            <a:prstDash val="solid"/>
          </a:ln>
        </p:spPr>
      </p:sp>
      <p:sp>
        <p:nvSpPr>
          <p:cNvPr id="61" name="Text 59"/>
          <p:cNvSpPr txBox="1"/>
          <p:nvPr/>
        </p:nvSpPr>
        <p:spPr>
          <a:xfrm>
            <a:off x="740664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2" name="Shape 60"/>
          <p:cNvSpPr/>
          <p:nvPr/>
        </p:nvSpPr>
        <p:spPr>
          <a:xfrm>
            <a:off x="9281160" y="4462272"/>
            <a:ext cx="1874520" cy="566928"/>
          </a:xfrm>
          <a:prstGeom prst="rect">
            <a:avLst/>
          </a:prstGeom>
          <a:solidFill>
            <a:srgbClr val="121417"/>
          </a:solidFill>
          <a:ln w="6350">
            <a:solidFill>
              <a:srgbClr val="23262B"/>
            </a:solidFill>
            <a:prstDash val="solid"/>
          </a:ln>
        </p:spPr>
      </p:sp>
      <p:sp>
        <p:nvSpPr>
          <p:cNvPr id="63" name="Text 61"/>
          <p:cNvSpPr txBox="1"/>
          <p:nvPr/>
        </p:nvSpPr>
        <p:spPr>
          <a:xfrm>
            <a:off x="928116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4" name="Text 62"/>
          <p:cNvSpPr txBox="1"/>
          <p:nvPr/>
        </p:nvSpPr>
        <p:spPr>
          <a:xfrm>
            <a:off x="548640" y="5166360"/>
            <a:ext cx="10607040" cy="32004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 yalnızca kendi kurum kullanıcısına, sınırlı derinlik   †  AI yorum katmanı yol haritasında (bkz. slayt 5)</a:t>
            </a:r>
            <a:endParaRPr lang="en-US" sz="950" dirty="0"/>
          </a:p>
        </p:txBody>
      </p:sp>
      <p:sp>
        <p:nvSpPr>
          <p:cNvPr id="65" name="Shape 63"/>
          <p:cNvSpPr/>
          <p:nvPr/>
        </p:nvSpPr>
        <p:spPr>
          <a:xfrm>
            <a:off x="548640" y="5623560"/>
            <a:ext cx="10607040" cy="594360"/>
          </a:xfrm>
          <a:prstGeom prst="roundRect">
            <a:avLst>
              <a:gd name="adj" fmla="val 18462"/>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66" name="Text 64"/>
          <p:cNvSpPr txBox="1"/>
          <p:nvPr/>
        </p:nvSpPr>
        <p:spPr>
          <a:xfrm>
            <a:off x="822960" y="5623560"/>
            <a:ext cx="10058400" cy="594360"/>
          </a:xfrm>
          <a:prstGeom prst="rect">
            <a:avLst/>
          </a:prstGeom>
          <a:noFill/>
          <a:ln/>
        </p:spPr>
        <p:txBody>
          <a:bodyPr wrap="square" lIns="0" tIns="0" rIns="0" bIns="0" rtlCol="0" anchor="ctr"/>
          <a:lstStyle/>
          <a:p>
            <a:pPr indent="0" marL="0">
              <a:buNone/>
            </a:pPr>
            <a:r>
              <a:rPr lang="en-US" sz="1400" b="1" i="1" dirty="0">
                <a:solidFill>
                  <a:srgbClr val="EFF6FF"/>
                </a:solidFill>
                <a:latin typeface="Cambria" pitchFamily="34" charset="0"/>
                <a:ea typeface="Cambria" pitchFamily="34" charset="-122"/>
                <a:cs typeface="Cambria" pitchFamily="34" charset="-120"/>
              </a:rPr>
              <a:t>Konumlandırma cümlesi:  “İki borsa, üç görüş, tek uygulama.”</a:t>
            </a:r>
            <a:endParaRPr lang="en-US" sz="1400" dirty="0"/>
          </a:p>
        </p:txBody>
      </p:sp>
      <p:sp>
        <p:nvSpPr>
          <p:cNvPr id="67" name="Text 65"/>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pic>
        <p:nvPicPr>
          <p:cNvPr id="68" name="Image 0" descr="/private/tmp/claude-501/-Users-ulasbudak-Desktop-borsa-app/e78c8e07-ac03-4beb-bcc3-115504839e4a/scratchpad/deck/logo_mark_accent.png">    </p:cNvPr>
          <p:cNvPicPr>
            <a:picLocks noChangeAspect="1"/>
          </p:cNvPicPr>
          <p:nvPr/>
        </p:nvPicPr>
        <p:blipFill>
          <a:blip r:embed="rId1"/>
          <a:stretch>
            <a:fillRect/>
          </a:stretch>
        </p:blipFill>
        <p:spPr>
          <a:xfrm>
            <a:off x="548640" y="6437376"/>
            <a:ext cx="173736" cy="173736"/>
          </a:xfrm>
          <a:prstGeom prst="rect">
            <a:avLst/>
          </a:prstGeom>
        </p:spPr>
      </p:pic>
      <p:sp>
        <p:nvSpPr>
          <p:cNvPr id="69" name="Text 66"/>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HEDEF KITLE</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İki segment, tek ürün — farklı derinlik katmanlarıyla</a:t>
            </a:r>
            <a:endParaRPr lang="en-US" sz="3000" dirty="0"/>
          </a:p>
        </p:txBody>
      </p:sp>
      <p:sp>
        <p:nvSpPr>
          <p:cNvPr id="4" name="Shape 2"/>
          <p:cNvSpPr/>
          <p:nvPr/>
        </p:nvSpPr>
        <p:spPr>
          <a:xfrm>
            <a:off x="548640" y="1691640"/>
            <a:ext cx="5166360" cy="4160520"/>
          </a:xfrm>
          <a:prstGeom prst="roundRect">
            <a:avLst>
              <a:gd name="adj" fmla="val 2637"/>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65960"/>
            <a:ext cx="548640" cy="548640"/>
          </a:xfrm>
          <a:prstGeom prst="ellipse">
            <a:avLst/>
          </a:prstGeom>
          <a:solidFill>
            <a:srgbClr val="3B82F6"/>
          </a:solidFill>
          <a:ln/>
        </p:spPr>
      </p:sp>
      <p:pic>
        <p:nvPicPr>
          <p:cNvPr id="6" name="Image 0" descr="/private/tmp/claude-501/-Users-ulasbudak-Desktop-borsa-app/e78c8e07-ac03-4beb-bcc3-115504839e4a/scratchpad/deck/icons/user-white.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1508760" y="1984248"/>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Ayşe — Yeni / Amatör Yatırımcı</a:t>
            </a:r>
            <a:endParaRPr lang="en-US" sz="1450" dirty="0"/>
          </a:p>
        </p:txBody>
      </p:sp>
      <p:sp>
        <p:nvSpPr>
          <p:cNvPr id="8" name="Text 5"/>
          <p:cNvSpPr txBox="1"/>
          <p:nvPr/>
        </p:nvSpPr>
        <p:spPr>
          <a:xfrm>
            <a:off x="1508760" y="2313432"/>
            <a:ext cx="397764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Beachhead: 1. dalga</a:t>
            </a:r>
            <a:endParaRPr lang="en-US" sz="1050" dirty="0"/>
          </a:p>
        </p:txBody>
      </p:sp>
      <p:sp>
        <p:nvSpPr>
          <p:cNvPr id="9" name="Text 6"/>
          <p:cNvSpPr txBox="1"/>
          <p:nvPr/>
        </p:nvSpPr>
        <p:spPr>
          <a:xfrm>
            <a:off x="822960" y="2834640"/>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İŞ (JTBD)</a:t>
            </a:r>
            <a:endParaRPr lang="en-US" sz="950" dirty="0"/>
          </a:p>
        </p:txBody>
      </p:sp>
      <p:sp>
        <p:nvSpPr>
          <p:cNvPr id="10" name="Text 7"/>
          <p:cNvSpPr txBox="1"/>
          <p:nvPr/>
        </p:nvSpPr>
        <p:spPr>
          <a:xfrm>
            <a:off x="822960" y="3090672"/>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Haberde duyduğu bir hisseyi hızlıca “ucuz mu pahalı mı” diye anlamak, jargona boğulmadan karar vermek.</a:t>
            </a:r>
            <a:endParaRPr lang="en-US" sz="1100" dirty="0"/>
          </a:p>
        </p:txBody>
      </p:sp>
      <p:sp>
        <p:nvSpPr>
          <p:cNvPr id="11" name="Text 8"/>
          <p:cNvSpPr txBox="1"/>
          <p:nvPr/>
        </p:nvSpPr>
        <p:spPr>
          <a:xfrm>
            <a:off x="822960" y="3822192"/>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BUGÜN NE YAPIYOR</a:t>
            </a:r>
            <a:endParaRPr lang="en-US" sz="950" dirty="0"/>
          </a:p>
        </p:txBody>
      </p:sp>
      <p:sp>
        <p:nvSpPr>
          <p:cNvPr id="12" name="Text 9"/>
          <p:cNvSpPr txBox="1"/>
          <p:nvPr/>
        </p:nvSpPr>
        <p:spPr>
          <a:xfrm>
            <a:off x="822960" y="4078224"/>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Sosyal medya tüyoları, karmaşık İngilizce araçlar ya da hiç analiz yapmama.</a:t>
            </a:r>
            <a:endParaRPr lang="en-US" sz="1100" dirty="0"/>
          </a:p>
        </p:txBody>
      </p:sp>
      <p:sp>
        <p:nvSpPr>
          <p:cNvPr id="13" name="Text 10"/>
          <p:cNvSpPr txBox="1"/>
          <p:nvPr/>
        </p:nvSpPr>
        <p:spPr>
          <a:xfrm>
            <a:off x="822960" y="4809744"/>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NEDEN BOROCEAN</a:t>
            </a:r>
            <a:endParaRPr lang="en-US" sz="950" dirty="0"/>
          </a:p>
        </p:txBody>
      </p:sp>
      <p:sp>
        <p:nvSpPr>
          <p:cNvPr id="14" name="Text 11"/>
          <p:cNvSpPr txBox="1"/>
          <p:nvPr/>
        </p:nvSpPr>
        <p:spPr>
          <a:xfrm>
            <a:off x="822960" y="5065776"/>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Sade özet skor + sektör kıyaslamalı metrikler + AI'nin sade Türkçe yorumu. Büyük, düşük-CAC, yüksek organik paylaşım potansiyelli kitle.</a:t>
            </a:r>
            <a:endParaRPr lang="en-US" sz="1100" dirty="0"/>
          </a:p>
        </p:txBody>
      </p:sp>
      <p:sp>
        <p:nvSpPr>
          <p:cNvPr id="15" name="Shape 12"/>
          <p:cNvSpPr/>
          <p:nvPr/>
        </p:nvSpPr>
        <p:spPr>
          <a:xfrm>
            <a:off x="6035040" y="1691640"/>
            <a:ext cx="5166360" cy="4160520"/>
          </a:xfrm>
          <a:prstGeom prst="roundRect">
            <a:avLst>
              <a:gd name="adj" fmla="val 2637"/>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6" name="Shape 13"/>
          <p:cNvSpPr/>
          <p:nvPr/>
        </p:nvSpPr>
        <p:spPr>
          <a:xfrm>
            <a:off x="6309360" y="1965960"/>
            <a:ext cx="548640" cy="548640"/>
          </a:xfrm>
          <a:prstGeom prst="ellipse">
            <a:avLst/>
          </a:prstGeom>
          <a:solidFill>
            <a:srgbClr val="3B82F6"/>
          </a:solidFill>
          <a:ln/>
        </p:spPr>
      </p:sp>
      <p:pic>
        <p:nvPicPr>
          <p:cNvPr id="17" name="Image 1" descr="/private/tmp/claude-501/-Users-ulasbudak-Desktop-borsa-app/e78c8e07-ac03-4beb-bcc3-115504839e4a/scratchpad/deck/icons/activity-white.png">    </p:cNvPr>
          <p:cNvPicPr>
            <a:picLocks noChangeAspect="1"/>
          </p:cNvPicPr>
          <p:nvPr/>
        </p:nvPicPr>
        <p:blipFill>
          <a:blip r:embed="rId2"/>
          <a:stretch>
            <a:fillRect/>
          </a:stretch>
        </p:blipFill>
        <p:spPr>
          <a:xfrm>
            <a:off x="6380683" y="2037283"/>
            <a:ext cx="405994" cy="405994"/>
          </a:xfrm>
          <a:prstGeom prst="rect">
            <a:avLst/>
          </a:prstGeom>
        </p:spPr>
      </p:pic>
      <p:sp>
        <p:nvSpPr>
          <p:cNvPr id="18" name="Text 14"/>
          <p:cNvSpPr txBox="1"/>
          <p:nvPr/>
        </p:nvSpPr>
        <p:spPr>
          <a:xfrm>
            <a:off x="6995160" y="1984248"/>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Mehmet — Aktif Trader</a:t>
            </a:r>
            <a:endParaRPr lang="en-US" sz="1450" dirty="0"/>
          </a:p>
        </p:txBody>
      </p:sp>
      <p:sp>
        <p:nvSpPr>
          <p:cNvPr id="19" name="Text 15"/>
          <p:cNvSpPr txBox="1"/>
          <p:nvPr/>
        </p:nvSpPr>
        <p:spPr>
          <a:xfrm>
            <a:off x="6995160" y="2313432"/>
            <a:ext cx="397764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2. dalga · yüksek LTV</a:t>
            </a:r>
            <a:endParaRPr lang="en-US" sz="1050" dirty="0"/>
          </a:p>
        </p:txBody>
      </p:sp>
      <p:sp>
        <p:nvSpPr>
          <p:cNvPr id="20" name="Text 16"/>
          <p:cNvSpPr txBox="1"/>
          <p:nvPr/>
        </p:nvSpPr>
        <p:spPr>
          <a:xfrm>
            <a:off x="6309360" y="2834640"/>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İŞ (JTBD)</a:t>
            </a:r>
            <a:endParaRPr lang="en-US" sz="950" dirty="0"/>
          </a:p>
        </p:txBody>
      </p:sp>
      <p:sp>
        <p:nvSpPr>
          <p:cNvPr id="21" name="Text 17"/>
          <p:cNvSpPr txBox="1"/>
          <p:nvPr/>
        </p:nvSpPr>
        <p:spPr>
          <a:xfrm>
            <a:off x="6309360" y="3090672"/>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Kendi kriterlerine uyan fırsatları taramak, çoklu indikatörle teyit almak, hisseleri yan yana kıyaslamak.</a:t>
            </a:r>
            <a:endParaRPr lang="en-US" sz="1100" dirty="0"/>
          </a:p>
        </p:txBody>
      </p:sp>
      <p:sp>
        <p:nvSpPr>
          <p:cNvPr id="22" name="Text 18"/>
          <p:cNvSpPr txBox="1"/>
          <p:nvPr/>
        </p:nvSpPr>
        <p:spPr>
          <a:xfrm>
            <a:off x="6309360" y="3822192"/>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BUGÜN NE YAPIYOR</a:t>
            </a:r>
            <a:endParaRPr lang="en-US" sz="950" dirty="0"/>
          </a:p>
        </p:txBody>
      </p:sp>
      <p:sp>
        <p:nvSpPr>
          <p:cNvPr id="23" name="Text 19"/>
          <p:cNvSpPr txBox="1"/>
          <p:nvPr/>
        </p:nvSpPr>
        <p:spPr>
          <a:xfrm>
            <a:off x="6309360" y="4078224"/>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TradingView + ayrı temel analiz aracı + ayrı Excel takibi — parçalı bir iş akışı.</a:t>
            </a:r>
            <a:endParaRPr lang="en-US" sz="1100" dirty="0"/>
          </a:p>
        </p:txBody>
      </p:sp>
      <p:sp>
        <p:nvSpPr>
          <p:cNvPr id="24" name="Text 20"/>
          <p:cNvSpPr txBox="1"/>
          <p:nvPr/>
        </p:nvSpPr>
        <p:spPr>
          <a:xfrm>
            <a:off x="6309360" y="4809744"/>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NEDEN BOROCEAN</a:t>
            </a:r>
            <a:endParaRPr lang="en-US" sz="950" dirty="0"/>
          </a:p>
        </p:txBody>
      </p:sp>
      <p:sp>
        <p:nvSpPr>
          <p:cNvPr id="25" name="Text 21"/>
          <p:cNvSpPr txBox="1"/>
          <p:nvPr/>
        </p:nvSpPr>
        <p:spPr>
          <a:xfrm>
            <a:off x="6309360" y="5065776"/>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30+ indikatör, kayıtlı taramalar, karşılaştırma tablosu — BIST + ABD tek yerde. Premium'a daha hızlı geçen segment.</a:t>
            </a:r>
            <a:endParaRPr lang="en-US" sz="1100" dirty="0"/>
          </a:p>
        </p:txBody>
      </p:sp>
      <p:sp>
        <p:nvSpPr>
          <p:cNvPr id="26" name="Text 22"/>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pic>
        <p:nvPicPr>
          <p:cNvPr id="27" name="Image 2" descr="/private/tmp/claude-501/-Users-ulasbudak-Desktop-borsa-app/e78c8e07-ac03-4beb-bcc3-115504839e4a/scratchpad/deck/logo_mark_accent.png">    </p:cNvPr>
          <p:cNvPicPr>
            <a:picLocks noChangeAspect="1"/>
          </p:cNvPicPr>
          <p:nvPr/>
        </p:nvPicPr>
        <p:blipFill>
          <a:blip r:embed="rId3"/>
          <a:stretch>
            <a:fillRect/>
          </a:stretch>
        </p:blipFill>
        <p:spPr>
          <a:xfrm>
            <a:off x="548640" y="6437376"/>
            <a:ext cx="173736" cy="173736"/>
          </a:xfrm>
          <a:prstGeom prst="rect">
            <a:avLst/>
          </a:prstGeom>
        </p:spPr>
      </p:pic>
      <p:sp>
        <p:nvSpPr>
          <p:cNvPr id="28" name="Text 23"/>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İŞ MODELI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Freemium — ve bilinçli bir “ücretsiz lansman” evresi</a:t>
            </a:r>
            <a:endParaRPr lang="en-US" sz="3000" dirty="0"/>
          </a:p>
        </p:txBody>
      </p:sp>
      <p:sp>
        <p:nvSpPr>
          <p:cNvPr id="4" name="Shape 2"/>
          <p:cNvSpPr/>
          <p:nvPr/>
        </p:nvSpPr>
        <p:spPr>
          <a:xfrm>
            <a:off x="548640" y="1691640"/>
            <a:ext cx="5166360" cy="3063240"/>
          </a:xfrm>
          <a:prstGeom prst="roundRect">
            <a:avLst>
              <a:gd name="adj" fmla="val 3582"/>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822960" y="1892808"/>
            <a:ext cx="461772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Ücretsiz Katman</a:t>
            </a:r>
            <a:endParaRPr lang="en-US" sz="1500" dirty="0"/>
          </a:p>
        </p:txBody>
      </p:sp>
      <p:sp>
        <p:nvSpPr>
          <p:cNvPr id="6" name="Shape 4"/>
          <p:cNvSpPr/>
          <p:nvPr/>
        </p:nvSpPr>
        <p:spPr>
          <a:xfrm>
            <a:off x="822960" y="2377440"/>
            <a:ext cx="237744" cy="237744"/>
          </a:xfrm>
          <a:prstGeom prst="ellipse">
            <a:avLst/>
          </a:prstGeom>
          <a:solidFill>
            <a:srgbClr val="2E3239"/>
          </a:solidFill>
          <a:ln/>
        </p:spPr>
      </p:sp>
      <p:pic>
        <p:nvPicPr>
          <p:cNvPr id="7" name="Image 0" descr="/private/tmp/claude-501/-Users-ulasbudak-Desktop-borsa-app/e78c8e07-ac03-4beb-bcc3-115504839e4a/scratchpad/deck/icons/checkCircle-white.png">    </p:cNvPr>
          <p:cNvPicPr>
            <a:picLocks noChangeAspect="1"/>
          </p:cNvPicPr>
          <p:nvPr/>
        </p:nvPicPr>
        <p:blipFill>
          <a:blip r:embed="rId1"/>
          <a:stretch>
            <a:fillRect/>
          </a:stretch>
        </p:blipFill>
        <p:spPr>
          <a:xfrm>
            <a:off x="868680" y="2423160"/>
            <a:ext cx="146304" cy="146304"/>
          </a:xfrm>
          <a:prstGeom prst="rect">
            <a:avLst/>
          </a:prstGeom>
        </p:spPr>
      </p:pic>
      <p:sp>
        <p:nvSpPr>
          <p:cNvPr id="8" name="Text 5"/>
          <p:cNvSpPr txBox="1"/>
          <p:nvPr/>
        </p:nvSpPr>
        <p:spPr>
          <a:xfrm>
            <a:off x="1170432" y="235000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Gecikmeli/günlük fiyat verisi</a:t>
            </a:r>
            <a:endParaRPr lang="en-US" sz="1150" dirty="0"/>
          </a:p>
        </p:txBody>
      </p:sp>
      <p:sp>
        <p:nvSpPr>
          <p:cNvPr id="9" name="Shape 6"/>
          <p:cNvSpPr/>
          <p:nvPr/>
        </p:nvSpPr>
        <p:spPr>
          <a:xfrm>
            <a:off x="822960" y="2761488"/>
            <a:ext cx="237744" cy="237744"/>
          </a:xfrm>
          <a:prstGeom prst="ellipse">
            <a:avLst/>
          </a:prstGeom>
          <a:solidFill>
            <a:srgbClr val="2E3239"/>
          </a:solidFill>
          <a:ln/>
        </p:spPr>
      </p:sp>
      <p:pic>
        <p:nvPicPr>
          <p:cNvPr id="10" name="Image 1" descr="/private/tmp/claude-501/-Users-ulasbudak-Desktop-borsa-app/e78c8e07-ac03-4beb-bcc3-115504839e4a/scratchpad/deck/icons/checkCircle-white.png">    </p:cNvPr>
          <p:cNvPicPr>
            <a:picLocks noChangeAspect="1"/>
          </p:cNvPicPr>
          <p:nvPr/>
        </p:nvPicPr>
        <p:blipFill>
          <a:blip r:embed="rId2"/>
          <a:stretch>
            <a:fillRect/>
          </a:stretch>
        </p:blipFill>
        <p:spPr>
          <a:xfrm>
            <a:off x="868680" y="2807208"/>
            <a:ext cx="146304" cy="146304"/>
          </a:xfrm>
          <a:prstGeom prst="rect">
            <a:avLst/>
          </a:prstGeom>
        </p:spPr>
      </p:pic>
      <p:sp>
        <p:nvSpPr>
          <p:cNvPr id="11" name="Text 7"/>
          <p:cNvSpPr txBox="1"/>
          <p:nvPr/>
        </p:nvSpPr>
        <p:spPr>
          <a:xfrm>
            <a:off x="1170432" y="2734056"/>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Temel metrikler</a:t>
            </a:r>
            <a:endParaRPr lang="en-US" sz="1150" dirty="0"/>
          </a:p>
        </p:txBody>
      </p:sp>
      <p:sp>
        <p:nvSpPr>
          <p:cNvPr id="12" name="Shape 8"/>
          <p:cNvSpPr/>
          <p:nvPr/>
        </p:nvSpPr>
        <p:spPr>
          <a:xfrm>
            <a:off x="822960" y="3145536"/>
            <a:ext cx="237744" cy="237744"/>
          </a:xfrm>
          <a:prstGeom prst="ellipse">
            <a:avLst/>
          </a:prstGeom>
          <a:solidFill>
            <a:srgbClr val="2E3239"/>
          </a:solidFill>
          <a:ln/>
        </p:spPr>
      </p:sp>
      <p:pic>
        <p:nvPicPr>
          <p:cNvPr id="13" name="Image 2" descr="/private/tmp/claude-501/-Users-ulasbudak-Desktop-borsa-app/e78c8e07-ac03-4beb-bcc3-115504839e4a/scratchpad/deck/icons/checkCircle-white.png">    </p:cNvPr>
          <p:cNvPicPr>
            <a:picLocks noChangeAspect="1"/>
          </p:cNvPicPr>
          <p:nvPr/>
        </p:nvPicPr>
        <p:blipFill>
          <a:blip r:embed="rId3"/>
          <a:stretch>
            <a:fillRect/>
          </a:stretch>
        </p:blipFill>
        <p:spPr>
          <a:xfrm>
            <a:off x="868680" y="3191256"/>
            <a:ext cx="146304" cy="146304"/>
          </a:xfrm>
          <a:prstGeom prst="rect">
            <a:avLst/>
          </a:prstGeom>
        </p:spPr>
      </p:pic>
      <p:sp>
        <p:nvSpPr>
          <p:cNvPr id="14" name="Text 9"/>
          <p:cNvSpPr txBox="1"/>
          <p:nvPr/>
        </p:nvSpPr>
        <p:spPr>
          <a:xfrm>
            <a:off x="1170432" y="3118104"/>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Sınırlı izleme listesi</a:t>
            </a:r>
            <a:endParaRPr lang="en-US" sz="1150" dirty="0"/>
          </a:p>
        </p:txBody>
      </p:sp>
      <p:sp>
        <p:nvSpPr>
          <p:cNvPr id="15" name="Shape 10"/>
          <p:cNvSpPr/>
          <p:nvPr/>
        </p:nvSpPr>
        <p:spPr>
          <a:xfrm>
            <a:off x="822960" y="3529584"/>
            <a:ext cx="237744" cy="237744"/>
          </a:xfrm>
          <a:prstGeom prst="ellipse">
            <a:avLst/>
          </a:prstGeom>
          <a:solidFill>
            <a:srgbClr val="2E3239"/>
          </a:solidFill>
          <a:ln/>
        </p:spPr>
      </p:sp>
      <p:pic>
        <p:nvPicPr>
          <p:cNvPr id="16" name="Image 3" descr="/private/tmp/claude-501/-Users-ulasbudak-Desktop-borsa-app/e78c8e07-ac03-4beb-bcc3-115504839e4a/scratchpad/deck/icons/checkCircle-white.png">    </p:cNvPr>
          <p:cNvPicPr>
            <a:picLocks noChangeAspect="1"/>
          </p:cNvPicPr>
          <p:nvPr/>
        </p:nvPicPr>
        <p:blipFill>
          <a:blip r:embed="rId4"/>
          <a:stretch>
            <a:fillRect/>
          </a:stretch>
        </p:blipFill>
        <p:spPr>
          <a:xfrm>
            <a:off x="868680" y="3575304"/>
            <a:ext cx="146304" cy="146304"/>
          </a:xfrm>
          <a:prstGeom prst="rect">
            <a:avLst/>
          </a:prstGeom>
        </p:spPr>
      </p:pic>
      <p:sp>
        <p:nvSpPr>
          <p:cNvPr id="17" name="Text 11"/>
          <p:cNvSpPr txBox="1"/>
          <p:nvPr/>
        </p:nvSpPr>
        <p:spPr>
          <a:xfrm>
            <a:off x="1170432" y="3502152"/>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Temel indikatörler</a:t>
            </a:r>
            <a:endParaRPr lang="en-US" sz="1150" dirty="0"/>
          </a:p>
        </p:txBody>
      </p:sp>
      <p:sp>
        <p:nvSpPr>
          <p:cNvPr id="18" name="Shape 12"/>
          <p:cNvSpPr/>
          <p:nvPr/>
        </p:nvSpPr>
        <p:spPr>
          <a:xfrm>
            <a:off x="822960" y="3913632"/>
            <a:ext cx="237744" cy="237744"/>
          </a:xfrm>
          <a:prstGeom prst="ellipse">
            <a:avLst/>
          </a:prstGeom>
          <a:solidFill>
            <a:srgbClr val="2E3239"/>
          </a:solidFill>
          <a:ln/>
        </p:spPr>
      </p:sp>
      <p:pic>
        <p:nvPicPr>
          <p:cNvPr id="19" name="Image 4" descr="/private/tmp/claude-501/-Users-ulasbudak-Desktop-borsa-app/e78c8e07-ac03-4beb-bcc3-115504839e4a/scratchpad/deck/icons/checkCircle-white.png">    </p:cNvPr>
          <p:cNvPicPr>
            <a:picLocks noChangeAspect="1"/>
          </p:cNvPicPr>
          <p:nvPr/>
        </p:nvPicPr>
        <p:blipFill>
          <a:blip r:embed="rId5"/>
          <a:stretch>
            <a:fillRect/>
          </a:stretch>
        </p:blipFill>
        <p:spPr>
          <a:xfrm>
            <a:off x="868680" y="3959352"/>
            <a:ext cx="146304" cy="146304"/>
          </a:xfrm>
          <a:prstGeom prst="rect">
            <a:avLst/>
          </a:prstGeom>
        </p:spPr>
      </p:pic>
      <p:sp>
        <p:nvSpPr>
          <p:cNvPr id="20" name="Text 13"/>
          <p:cNvSpPr txBox="1"/>
          <p:nvPr/>
        </p:nvSpPr>
        <p:spPr>
          <a:xfrm>
            <a:off x="1170432" y="3886200"/>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1 alım-satım simülasyonu</a:t>
            </a:r>
            <a:endParaRPr lang="en-US" sz="1150" dirty="0"/>
          </a:p>
        </p:txBody>
      </p:sp>
      <p:sp>
        <p:nvSpPr>
          <p:cNvPr id="21" name="Shape 14"/>
          <p:cNvSpPr/>
          <p:nvPr/>
        </p:nvSpPr>
        <p:spPr>
          <a:xfrm>
            <a:off x="6035040" y="1691640"/>
            <a:ext cx="5166360" cy="3063240"/>
          </a:xfrm>
          <a:prstGeom prst="roundRect">
            <a:avLst>
              <a:gd name="adj" fmla="val 3582"/>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22" name="Text 15"/>
          <p:cNvSpPr txBox="1"/>
          <p:nvPr/>
        </p:nvSpPr>
        <p:spPr>
          <a:xfrm>
            <a:off x="6309360" y="1892808"/>
            <a:ext cx="4617720" cy="365760"/>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Premium Katman</a:t>
            </a:r>
            <a:endParaRPr lang="en-US" sz="1500" dirty="0"/>
          </a:p>
        </p:txBody>
      </p:sp>
      <p:sp>
        <p:nvSpPr>
          <p:cNvPr id="23" name="Shape 16"/>
          <p:cNvSpPr/>
          <p:nvPr/>
        </p:nvSpPr>
        <p:spPr>
          <a:xfrm>
            <a:off x="6309360" y="2377440"/>
            <a:ext cx="237744" cy="237744"/>
          </a:xfrm>
          <a:prstGeom prst="ellipse">
            <a:avLst/>
          </a:prstGeom>
          <a:solidFill>
            <a:srgbClr val="3B82F6"/>
          </a:solidFill>
          <a:ln/>
        </p:spPr>
      </p:sp>
      <p:pic>
        <p:nvPicPr>
          <p:cNvPr id="24" name="Image 5" descr="/private/tmp/claude-501/-Users-ulasbudak-Desktop-borsa-app/e78c8e07-ac03-4beb-bcc3-115504839e4a/scratchpad/deck/icons/checkCircle-white.png">    </p:cNvPr>
          <p:cNvPicPr>
            <a:picLocks noChangeAspect="1"/>
          </p:cNvPicPr>
          <p:nvPr/>
        </p:nvPicPr>
        <p:blipFill>
          <a:blip r:embed="rId6"/>
          <a:stretch>
            <a:fillRect/>
          </a:stretch>
        </p:blipFill>
        <p:spPr>
          <a:xfrm>
            <a:off x="6355080" y="2423160"/>
            <a:ext cx="146304" cy="146304"/>
          </a:xfrm>
          <a:prstGeom prst="rect">
            <a:avLst/>
          </a:prstGeom>
        </p:spPr>
      </p:pic>
      <p:sp>
        <p:nvSpPr>
          <p:cNvPr id="25" name="Text 17"/>
          <p:cNvSpPr txBox="1"/>
          <p:nvPr/>
        </p:nvSpPr>
        <p:spPr>
          <a:xfrm>
            <a:off x="6656832" y="235000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Gerçek zamanlı veri</a:t>
            </a:r>
            <a:endParaRPr lang="en-US" sz="1150" dirty="0"/>
          </a:p>
        </p:txBody>
      </p:sp>
      <p:sp>
        <p:nvSpPr>
          <p:cNvPr id="26" name="Shape 18"/>
          <p:cNvSpPr/>
          <p:nvPr/>
        </p:nvSpPr>
        <p:spPr>
          <a:xfrm>
            <a:off x="6309360" y="2761488"/>
            <a:ext cx="237744" cy="237744"/>
          </a:xfrm>
          <a:prstGeom prst="ellipse">
            <a:avLst/>
          </a:prstGeom>
          <a:solidFill>
            <a:srgbClr val="3B82F6"/>
          </a:solidFill>
          <a:ln/>
        </p:spPr>
      </p:sp>
      <p:pic>
        <p:nvPicPr>
          <p:cNvPr id="27" name="Image 6" descr="/private/tmp/claude-501/-Users-ulasbudak-Desktop-borsa-app/e78c8e07-ac03-4beb-bcc3-115504839e4a/scratchpad/deck/icons/checkCircle-white.png">    </p:cNvPr>
          <p:cNvPicPr>
            <a:picLocks noChangeAspect="1"/>
          </p:cNvPicPr>
          <p:nvPr/>
        </p:nvPicPr>
        <p:blipFill>
          <a:blip r:embed="rId7"/>
          <a:stretch>
            <a:fillRect/>
          </a:stretch>
        </p:blipFill>
        <p:spPr>
          <a:xfrm>
            <a:off x="6355080" y="2807208"/>
            <a:ext cx="146304" cy="146304"/>
          </a:xfrm>
          <a:prstGeom prst="rect">
            <a:avLst/>
          </a:prstGeom>
        </p:spPr>
      </p:pic>
      <p:sp>
        <p:nvSpPr>
          <p:cNvPr id="28" name="Text 19"/>
          <p:cNvSpPr txBox="1"/>
          <p:nvPr/>
        </p:nvSpPr>
        <p:spPr>
          <a:xfrm>
            <a:off x="6656832" y="2734056"/>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30+ indikatör kütüphanesi</a:t>
            </a:r>
            <a:endParaRPr lang="en-US" sz="1150" dirty="0"/>
          </a:p>
        </p:txBody>
      </p:sp>
      <p:sp>
        <p:nvSpPr>
          <p:cNvPr id="29" name="Shape 20"/>
          <p:cNvSpPr/>
          <p:nvPr/>
        </p:nvSpPr>
        <p:spPr>
          <a:xfrm>
            <a:off x="6309360" y="3145536"/>
            <a:ext cx="237744" cy="237744"/>
          </a:xfrm>
          <a:prstGeom prst="ellipse">
            <a:avLst/>
          </a:prstGeom>
          <a:solidFill>
            <a:srgbClr val="3B82F6"/>
          </a:solidFill>
          <a:ln/>
        </p:spPr>
      </p:sp>
      <p:pic>
        <p:nvPicPr>
          <p:cNvPr id="30" name="Image 7" descr="/private/tmp/claude-501/-Users-ulasbudak-Desktop-borsa-app/e78c8e07-ac03-4beb-bcc3-115504839e4a/scratchpad/deck/icons/checkCircle-white.png">    </p:cNvPr>
          <p:cNvPicPr>
            <a:picLocks noChangeAspect="1"/>
          </p:cNvPicPr>
          <p:nvPr/>
        </p:nvPicPr>
        <p:blipFill>
          <a:blip r:embed="rId8"/>
          <a:stretch>
            <a:fillRect/>
          </a:stretch>
        </p:blipFill>
        <p:spPr>
          <a:xfrm>
            <a:off x="6355080" y="3191256"/>
            <a:ext cx="146304" cy="146304"/>
          </a:xfrm>
          <a:prstGeom prst="rect">
            <a:avLst/>
          </a:prstGeom>
        </p:spPr>
      </p:pic>
      <p:sp>
        <p:nvSpPr>
          <p:cNvPr id="31" name="Text 21"/>
          <p:cNvSpPr txBox="1"/>
          <p:nvPr/>
        </p:nvSpPr>
        <p:spPr>
          <a:xfrm>
            <a:off x="6656832" y="3118104"/>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Sınırsız tarama &amp; alarm</a:t>
            </a:r>
            <a:endParaRPr lang="en-US" sz="1150" dirty="0"/>
          </a:p>
        </p:txBody>
      </p:sp>
      <p:sp>
        <p:nvSpPr>
          <p:cNvPr id="32" name="Shape 22"/>
          <p:cNvSpPr/>
          <p:nvPr/>
        </p:nvSpPr>
        <p:spPr>
          <a:xfrm>
            <a:off x="6309360" y="3529584"/>
            <a:ext cx="237744" cy="237744"/>
          </a:xfrm>
          <a:prstGeom prst="ellipse">
            <a:avLst/>
          </a:prstGeom>
          <a:solidFill>
            <a:srgbClr val="3B82F6"/>
          </a:solidFill>
          <a:ln/>
        </p:spPr>
      </p:sp>
      <p:pic>
        <p:nvPicPr>
          <p:cNvPr id="33" name="Image 8" descr="/private/tmp/claude-501/-Users-ulasbudak-Desktop-borsa-app/e78c8e07-ac03-4beb-bcc3-115504839e4a/scratchpad/deck/icons/checkCircle-white.png">    </p:cNvPr>
          <p:cNvPicPr>
            <a:picLocks noChangeAspect="1"/>
          </p:cNvPicPr>
          <p:nvPr/>
        </p:nvPicPr>
        <p:blipFill>
          <a:blip r:embed="rId9"/>
          <a:stretch>
            <a:fillRect/>
          </a:stretch>
        </p:blipFill>
        <p:spPr>
          <a:xfrm>
            <a:off x="6355080" y="3575304"/>
            <a:ext cx="146304" cy="146304"/>
          </a:xfrm>
          <a:prstGeom prst="rect">
            <a:avLst/>
          </a:prstGeom>
        </p:spPr>
      </p:pic>
      <p:sp>
        <p:nvSpPr>
          <p:cNvPr id="34" name="Text 23"/>
          <p:cNvSpPr txBox="1"/>
          <p:nvPr/>
        </p:nvSpPr>
        <p:spPr>
          <a:xfrm>
            <a:off x="6656832" y="3502152"/>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Gelişmiş karşılaştırma</a:t>
            </a:r>
            <a:endParaRPr lang="en-US" sz="1150" dirty="0"/>
          </a:p>
        </p:txBody>
      </p:sp>
      <p:sp>
        <p:nvSpPr>
          <p:cNvPr id="35" name="Shape 24"/>
          <p:cNvSpPr/>
          <p:nvPr/>
        </p:nvSpPr>
        <p:spPr>
          <a:xfrm>
            <a:off x="6309360" y="3913632"/>
            <a:ext cx="237744" cy="237744"/>
          </a:xfrm>
          <a:prstGeom prst="ellipse">
            <a:avLst/>
          </a:prstGeom>
          <a:solidFill>
            <a:srgbClr val="3B82F6"/>
          </a:solidFill>
          <a:ln/>
        </p:spPr>
      </p:sp>
      <p:pic>
        <p:nvPicPr>
          <p:cNvPr id="36" name="Image 9" descr="/private/tmp/claude-501/-Users-ulasbudak-Desktop-borsa-app/e78c8e07-ac03-4beb-bcc3-115504839e4a/scratchpad/deck/icons/checkCircle-white.png">    </p:cNvPr>
          <p:cNvPicPr>
            <a:picLocks noChangeAspect="1"/>
          </p:cNvPicPr>
          <p:nvPr/>
        </p:nvPicPr>
        <p:blipFill>
          <a:blip r:embed="rId10"/>
          <a:stretch>
            <a:fillRect/>
          </a:stretch>
        </p:blipFill>
        <p:spPr>
          <a:xfrm>
            <a:off x="6355080" y="3959352"/>
            <a:ext cx="146304" cy="146304"/>
          </a:xfrm>
          <a:prstGeom prst="rect">
            <a:avLst/>
          </a:prstGeom>
        </p:spPr>
      </p:pic>
      <p:sp>
        <p:nvSpPr>
          <p:cNvPr id="37" name="Text 25"/>
          <p:cNvSpPr txBox="1"/>
          <p:nvPr/>
        </p:nvSpPr>
        <p:spPr>
          <a:xfrm>
            <a:off x="6656832" y="3886200"/>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AI raporları (temel + teknik)</a:t>
            </a:r>
            <a:endParaRPr lang="en-US" sz="1150" dirty="0"/>
          </a:p>
        </p:txBody>
      </p:sp>
      <p:sp>
        <p:nvSpPr>
          <p:cNvPr id="38" name="Shape 26"/>
          <p:cNvSpPr/>
          <p:nvPr/>
        </p:nvSpPr>
        <p:spPr>
          <a:xfrm>
            <a:off x="6309360" y="4297680"/>
            <a:ext cx="237744" cy="237744"/>
          </a:xfrm>
          <a:prstGeom prst="ellipse">
            <a:avLst/>
          </a:prstGeom>
          <a:solidFill>
            <a:srgbClr val="3B82F6"/>
          </a:solidFill>
          <a:ln/>
        </p:spPr>
      </p:sp>
      <p:pic>
        <p:nvPicPr>
          <p:cNvPr id="39" name="Image 10" descr="/private/tmp/claude-501/-Users-ulasbudak-Desktop-borsa-app/e78c8e07-ac03-4beb-bcc3-115504839e4a/scratchpad/deck/icons/checkCircle-white.png">    </p:cNvPr>
          <p:cNvPicPr>
            <a:picLocks noChangeAspect="1"/>
          </p:cNvPicPr>
          <p:nvPr/>
        </p:nvPicPr>
        <p:blipFill>
          <a:blip r:embed="rId11"/>
          <a:stretch>
            <a:fillRect/>
          </a:stretch>
        </p:blipFill>
        <p:spPr>
          <a:xfrm>
            <a:off x="6355080" y="4343400"/>
            <a:ext cx="146304" cy="146304"/>
          </a:xfrm>
          <a:prstGeom prst="rect">
            <a:avLst/>
          </a:prstGeom>
        </p:spPr>
      </p:pic>
      <p:sp>
        <p:nvSpPr>
          <p:cNvPr id="40" name="Text 27"/>
          <p:cNvSpPr txBox="1"/>
          <p:nvPr/>
        </p:nvSpPr>
        <p:spPr>
          <a:xfrm>
            <a:off x="6656832" y="427024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Sınırsız simülasyon</a:t>
            </a:r>
            <a:endParaRPr lang="en-US" sz="1150" dirty="0"/>
          </a:p>
        </p:txBody>
      </p:sp>
      <p:sp>
        <p:nvSpPr>
          <p:cNvPr id="41" name="Shape 28"/>
          <p:cNvSpPr/>
          <p:nvPr/>
        </p:nvSpPr>
        <p:spPr>
          <a:xfrm>
            <a:off x="548640" y="4892040"/>
            <a:ext cx="10607040" cy="1188720"/>
          </a:xfrm>
          <a:prstGeom prst="roundRect">
            <a:avLst>
              <a:gd name="adj" fmla="val 9231"/>
            </a:avLst>
          </a:prstGeom>
          <a:solidFill>
            <a:srgbClr val="1E2126"/>
          </a:solidFill>
          <a:ln w="12700">
            <a:solidFill>
              <a:srgbClr val="F59E0B"/>
            </a:solidFill>
            <a:prstDash val="solid"/>
          </a:ln>
          <a:effectLst>
            <a:outerShdw sx="100000" sy="100000" kx="0" ky="0" algn="bl" rotWithShape="0" blurRad="127000" dist="38100" dir="5400000">
              <a:srgbClr val="000000">
                <a:alpha val="35000"/>
              </a:srgbClr>
            </a:outerShdw>
          </a:effectLst>
        </p:spPr>
      </p:sp>
      <p:sp>
        <p:nvSpPr>
          <p:cNvPr id="42" name="Shape 29"/>
          <p:cNvSpPr/>
          <p:nvPr/>
        </p:nvSpPr>
        <p:spPr>
          <a:xfrm>
            <a:off x="822960" y="5148072"/>
            <a:ext cx="502920" cy="502920"/>
          </a:xfrm>
          <a:prstGeom prst="ellipse">
            <a:avLst/>
          </a:prstGeom>
          <a:solidFill>
            <a:srgbClr val="F59E0B"/>
          </a:solidFill>
          <a:ln/>
        </p:spPr>
      </p:sp>
      <p:pic>
        <p:nvPicPr>
          <p:cNvPr id="43" name="Image 11" descr="/private/tmp/claude-501/-Users-ulasbudak-Desktop-borsa-app/e78c8e07-ac03-4beb-bcc3-115504839e4a/scratchpad/deck/icons/gift-dark.png">    </p:cNvPr>
          <p:cNvPicPr>
            <a:picLocks noChangeAspect="1"/>
          </p:cNvPicPr>
          <p:nvPr/>
        </p:nvPicPr>
        <p:blipFill>
          <a:blip r:embed="rId12"/>
          <a:stretch>
            <a:fillRect/>
          </a:stretch>
        </p:blipFill>
        <p:spPr>
          <a:xfrm>
            <a:off x="888340" y="5213452"/>
            <a:ext cx="372161" cy="372161"/>
          </a:xfrm>
          <a:prstGeom prst="rect">
            <a:avLst/>
          </a:prstGeom>
        </p:spPr>
      </p:pic>
      <p:sp>
        <p:nvSpPr>
          <p:cNvPr id="44" name="Text 30"/>
          <p:cNvSpPr txBox="1"/>
          <p:nvPr/>
        </p:nvSpPr>
        <p:spPr>
          <a:xfrm>
            <a:off x="1508760" y="5010912"/>
            <a:ext cx="9418320" cy="32004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Şu an: tüm özellikler geçici olarak ücretsiz</a:t>
            </a:r>
            <a:endParaRPr lang="en-US" sz="1350" dirty="0"/>
          </a:p>
        </p:txBody>
      </p:sp>
      <p:sp>
        <p:nvSpPr>
          <p:cNvPr id="45" name="Text 31"/>
          <p:cNvSpPr txBox="1"/>
          <p:nvPr/>
        </p:nvSpPr>
        <p:spPr>
          <a:xfrm>
            <a:off x="1508760" y="5349240"/>
            <a:ext cx="9418320" cy="685800"/>
          </a:xfrm>
          <a:prstGeom prst="rect">
            <a:avLst/>
          </a:prstGeom>
          <a:noFill/>
          <a:ln/>
        </p:spPr>
        <p:txBody>
          <a:bodyPr wrap="square" lIns="0" tIns="0" rIns="0" bIns="0" rtlCol="0" anchor="ctr"/>
          <a:lstStyle/>
          <a:p>
            <a:pPr indent="0" marL="0">
              <a:lnSpc>
                <a:spcPct val="125000"/>
              </a:lnSpc>
              <a:buNone/>
            </a:pPr>
            <a:r>
              <a:rPr lang="en-US" sz="1150" dirty="0">
                <a:solidFill>
                  <a:srgbClr val="9CA3AF"/>
                </a:solidFill>
                <a:latin typeface="Calibri" pitchFamily="34" charset="0"/>
                <a:ea typeface="Calibri" pitchFamily="34" charset="-122"/>
                <a:cs typeface="Calibri" pitchFamily="34" charset="-120"/>
              </a:rPr>
              <a:t>Bilinçli bir lansman stratejisi: gerçek kullanım verisi, referans ve organik paylaşım toplama evresi. Ödeme sağlayıcı entegrasyonu (App/Play Store IAP + web kart ödeme) kurulduğunda ücretli katman devreye alınacak.</a:t>
            </a:r>
            <a:endParaRPr lang="en-US" sz="1150" dirty="0"/>
          </a:p>
        </p:txBody>
      </p:sp>
      <p:sp>
        <p:nvSpPr>
          <p:cNvPr id="46" name="Text 32"/>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pic>
        <p:nvPicPr>
          <p:cNvPr id="47" name="Image 12" descr="/private/tmp/claude-501/-Users-ulasbudak-Desktop-borsa-app/e78c8e07-ac03-4beb-bcc3-115504839e4a/scratchpad/deck/logo_mark_accent.png">    </p:cNvPr>
          <p:cNvPicPr>
            <a:picLocks noChangeAspect="1"/>
          </p:cNvPicPr>
          <p:nvPr/>
        </p:nvPicPr>
        <p:blipFill>
          <a:blip r:embed="rId13"/>
          <a:stretch>
            <a:fillRect/>
          </a:stretch>
        </p:blipFill>
        <p:spPr>
          <a:xfrm>
            <a:off x="548640" y="6437376"/>
            <a:ext cx="173736" cy="173736"/>
          </a:xfrm>
          <a:prstGeom prst="rect">
            <a:avLst/>
          </a:prstGeom>
        </p:spPr>
      </p:pic>
      <p:sp>
        <p:nvSpPr>
          <p:cNvPr id="48" name="Text 33"/>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LANSMAN PLANI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90 günlük git-pazara stratejisi</a:t>
            </a:r>
            <a:endParaRPr lang="en-US" sz="3000" dirty="0"/>
          </a:p>
        </p:txBody>
      </p:sp>
      <p:sp>
        <p:nvSpPr>
          <p:cNvPr id="4" name="Shape 2"/>
          <p:cNvSpPr/>
          <p:nvPr/>
        </p:nvSpPr>
        <p:spPr>
          <a:xfrm>
            <a:off x="548640"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1929384"/>
            <a:ext cx="457200" cy="457200"/>
          </a:xfrm>
          <a:prstGeom prst="roundRect">
            <a:avLst>
              <a:gd name="adj" fmla="val 50000"/>
            </a:avLst>
          </a:prstGeom>
          <a:solidFill>
            <a:srgbClr val="3B82F6"/>
          </a:solidFill>
          <a:ln/>
        </p:spPr>
      </p:sp>
      <p:sp>
        <p:nvSpPr>
          <p:cNvPr id="6" name="Text 4"/>
          <p:cNvSpPr txBox="1"/>
          <p:nvPr/>
        </p:nvSpPr>
        <p:spPr>
          <a:xfrm>
            <a:off x="804672"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89888"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Lansman Öncesi</a:t>
            </a:r>
            <a:endParaRPr lang="en-US" sz="1350" dirty="0"/>
          </a:p>
        </p:txBody>
      </p:sp>
      <p:sp>
        <p:nvSpPr>
          <p:cNvPr id="8" name="Text 6"/>
          <p:cNvSpPr txBox="1"/>
          <p:nvPr/>
        </p:nvSpPr>
        <p:spPr>
          <a:xfrm>
            <a:off x="1389888"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1-4. hafta</a:t>
            </a:r>
            <a:endParaRPr lang="en-US" sz="1000" dirty="0"/>
          </a:p>
        </p:txBody>
      </p:sp>
      <p:sp>
        <p:nvSpPr>
          <p:cNvPr id="9" name="Text 7"/>
          <p:cNvSpPr txBox="1"/>
          <p:nvPr/>
        </p:nvSpPr>
        <p:spPr>
          <a:xfrm>
            <a:off x="804672"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Eğitim içerikleri (SEO)</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ASO — TR/EN anahtar kelime</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Bekleme listesi + erken erişim</a:t>
            </a:r>
            <a:endParaRPr lang="en-US" sz="1050" dirty="0"/>
          </a:p>
        </p:txBody>
      </p:sp>
      <p:pic>
        <p:nvPicPr>
          <p:cNvPr id="10" name="Image 0" descr="/private/tmp/claude-501/-Users-ulasbudak-Desktop-borsa-app/e78c8e07-ac03-4beb-bcc3-115504839e4a/scratchpad/deck/icons/arrowRight-accent.png">    </p:cNvPr>
          <p:cNvPicPr>
            <a:picLocks noChangeAspect="1"/>
          </p:cNvPicPr>
          <p:nvPr/>
        </p:nvPicPr>
        <p:blipFill>
          <a:blip r:embed="rId1"/>
          <a:stretch>
            <a:fillRect/>
          </a:stretch>
        </p:blipFill>
        <p:spPr>
          <a:xfrm>
            <a:off x="3886200" y="2697480"/>
            <a:ext cx="274320" cy="274320"/>
          </a:xfrm>
          <a:prstGeom prst="rect">
            <a:avLst/>
          </a:prstGeom>
        </p:spPr>
      </p:pic>
      <p:sp>
        <p:nvSpPr>
          <p:cNvPr id="11" name="Shape 8"/>
          <p:cNvSpPr/>
          <p:nvPr/>
        </p:nvSpPr>
        <p:spPr>
          <a:xfrm>
            <a:off x="4187952"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4443984" y="1929384"/>
            <a:ext cx="457200" cy="457200"/>
          </a:xfrm>
          <a:prstGeom prst="roundRect">
            <a:avLst>
              <a:gd name="adj" fmla="val 50000"/>
            </a:avLst>
          </a:prstGeom>
          <a:solidFill>
            <a:srgbClr val="3B82F6"/>
          </a:solidFill>
          <a:ln/>
        </p:spPr>
      </p:sp>
      <p:sp>
        <p:nvSpPr>
          <p:cNvPr id="13" name="Text 10"/>
          <p:cNvSpPr txBox="1"/>
          <p:nvPr/>
        </p:nvSpPr>
        <p:spPr>
          <a:xfrm>
            <a:off x="4443984"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txBox="1"/>
          <p:nvPr/>
        </p:nvSpPr>
        <p:spPr>
          <a:xfrm>
            <a:off x="5029200"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Lansman</a:t>
            </a:r>
            <a:endParaRPr lang="en-US" sz="1350" dirty="0"/>
          </a:p>
        </p:txBody>
      </p:sp>
      <p:sp>
        <p:nvSpPr>
          <p:cNvPr id="15" name="Text 12"/>
          <p:cNvSpPr txBox="1"/>
          <p:nvPr/>
        </p:nvSpPr>
        <p:spPr>
          <a:xfrm>
            <a:off x="5029200"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5-6. hafta</a:t>
            </a:r>
            <a:endParaRPr lang="en-US" sz="1000" dirty="0"/>
          </a:p>
        </p:txBody>
      </p:sp>
      <p:sp>
        <p:nvSpPr>
          <p:cNvPr id="16" name="Text 13"/>
          <p:cNvSpPr txBox="1"/>
          <p:nvPr/>
        </p:nvSpPr>
        <p:spPr>
          <a:xfrm>
            <a:off x="4443984"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Product Hunt + Webrazzi/Startups.watch</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Micro-influencer incelemeleri</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Sosyal medya patlaması (X/IG/YouTube Shorts)</a:t>
            </a:r>
            <a:endParaRPr lang="en-US" sz="1050" dirty="0"/>
          </a:p>
        </p:txBody>
      </p:sp>
      <p:pic>
        <p:nvPicPr>
          <p:cNvPr id="17" name="Image 1" descr="/private/tmp/claude-501/-Users-ulasbudak-Desktop-borsa-app/e78c8e07-ac03-4beb-bcc3-115504839e4a/scratchpad/deck/icons/arrowRight-accent.png">    </p:cNvPr>
          <p:cNvPicPr>
            <a:picLocks noChangeAspect="1"/>
          </p:cNvPicPr>
          <p:nvPr/>
        </p:nvPicPr>
        <p:blipFill>
          <a:blip r:embed="rId2"/>
          <a:stretch>
            <a:fillRect/>
          </a:stretch>
        </p:blipFill>
        <p:spPr>
          <a:xfrm>
            <a:off x="7525512" y="2697480"/>
            <a:ext cx="274320" cy="274320"/>
          </a:xfrm>
          <a:prstGeom prst="rect">
            <a:avLst/>
          </a:prstGeom>
        </p:spPr>
      </p:pic>
      <p:sp>
        <p:nvSpPr>
          <p:cNvPr id="18" name="Shape 14"/>
          <p:cNvSpPr/>
          <p:nvPr/>
        </p:nvSpPr>
        <p:spPr>
          <a:xfrm>
            <a:off x="7827264"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9" name="Shape 15"/>
          <p:cNvSpPr/>
          <p:nvPr/>
        </p:nvSpPr>
        <p:spPr>
          <a:xfrm>
            <a:off x="8083296" y="1929384"/>
            <a:ext cx="457200" cy="457200"/>
          </a:xfrm>
          <a:prstGeom prst="roundRect">
            <a:avLst>
              <a:gd name="adj" fmla="val 50000"/>
            </a:avLst>
          </a:prstGeom>
          <a:solidFill>
            <a:srgbClr val="3B82F6"/>
          </a:solidFill>
          <a:ln/>
        </p:spPr>
      </p:sp>
      <p:sp>
        <p:nvSpPr>
          <p:cNvPr id="20" name="Text 16"/>
          <p:cNvSpPr txBox="1"/>
          <p:nvPr/>
        </p:nvSpPr>
        <p:spPr>
          <a:xfrm>
            <a:off x="8083296"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7"/>
          <p:cNvSpPr txBox="1"/>
          <p:nvPr/>
        </p:nvSpPr>
        <p:spPr>
          <a:xfrm>
            <a:off x="8668512"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Büyüme</a:t>
            </a:r>
            <a:endParaRPr lang="en-US" sz="1350" dirty="0"/>
          </a:p>
        </p:txBody>
      </p:sp>
      <p:sp>
        <p:nvSpPr>
          <p:cNvPr id="22" name="Text 18"/>
          <p:cNvSpPr txBox="1"/>
          <p:nvPr/>
        </p:nvSpPr>
        <p:spPr>
          <a:xfrm>
            <a:off x="8668512"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7-12. hafta</a:t>
            </a:r>
            <a:endParaRPr lang="en-US" sz="1000" dirty="0"/>
          </a:p>
        </p:txBody>
      </p:sp>
      <p:sp>
        <p:nvSpPr>
          <p:cNvPr id="23" name="Text 19"/>
          <p:cNvSpPr txBox="1"/>
          <p:nvPr/>
        </p:nvSpPr>
        <p:spPr>
          <a:xfrm>
            <a:off x="8083296"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Haftalık içerik ritmi</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Referral programı</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Sektör bülteni growth loop</a:t>
            </a:r>
            <a:endParaRPr lang="en-US" sz="1050" dirty="0"/>
          </a:p>
        </p:txBody>
      </p:sp>
      <p:sp>
        <p:nvSpPr>
          <p:cNvPr id="24" name="Text 20"/>
          <p:cNvSpPr txBox="1"/>
          <p:nvPr/>
        </p:nvSpPr>
        <p:spPr>
          <a:xfrm>
            <a:off x="548640" y="425196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KANALLAR</a:t>
            </a:r>
            <a:endParaRPr lang="en-US" sz="1200" dirty="0"/>
          </a:p>
        </p:txBody>
      </p:sp>
      <p:sp>
        <p:nvSpPr>
          <p:cNvPr id="25" name="Shape 21"/>
          <p:cNvSpPr/>
          <p:nvPr/>
        </p:nvSpPr>
        <p:spPr>
          <a:xfrm>
            <a:off x="548640" y="4617720"/>
            <a:ext cx="1673352" cy="502920"/>
          </a:xfrm>
          <a:prstGeom prst="roundRect">
            <a:avLst>
              <a:gd name="adj" fmla="val 18182"/>
            </a:avLst>
          </a:prstGeom>
          <a:solidFill>
            <a:srgbClr val="121417"/>
          </a:solidFill>
          <a:ln w="12700">
            <a:solidFill>
              <a:srgbClr val="2E3239"/>
            </a:solidFill>
            <a:prstDash val="solid"/>
          </a:ln>
        </p:spPr>
      </p:sp>
      <p:sp>
        <p:nvSpPr>
          <p:cNvPr id="26" name="Text 22"/>
          <p:cNvSpPr txBox="1"/>
          <p:nvPr/>
        </p:nvSpPr>
        <p:spPr>
          <a:xfrm>
            <a:off x="621792"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İçerik &amp; SEO</a:t>
            </a:r>
            <a:endParaRPr lang="en-US" sz="950" dirty="0"/>
          </a:p>
        </p:txBody>
      </p:sp>
      <p:sp>
        <p:nvSpPr>
          <p:cNvPr id="27" name="Shape 23"/>
          <p:cNvSpPr/>
          <p:nvPr/>
        </p:nvSpPr>
        <p:spPr>
          <a:xfrm>
            <a:off x="2368296" y="4617720"/>
            <a:ext cx="1673352" cy="502920"/>
          </a:xfrm>
          <a:prstGeom prst="roundRect">
            <a:avLst>
              <a:gd name="adj" fmla="val 18182"/>
            </a:avLst>
          </a:prstGeom>
          <a:solidFill>
            <a:srgbClr val="121417"/>
          </a:solidFill>
          <a:ln w="12700">
            <a:solidFill>
              <a:srgbClr val="2E3239"/>
            </a:solidFill>
            <a:prstDash val="solid"/>
          </a:ln>
        </p:spPr>
      </p:sp>
      <p:sp>
        <p:nvSpPr>
          <p:cNvPr id="28" name="Text 24"/>
          <p:cNvSpPr txBox="1"/>
          <p:nvPr/>
        </p:nvSpPr>
        <p:spPr>
          <a:xfrm>
            <a:off x="2441448"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Finans sosyal medya</a:t>
            </a:r>
            <a:endParaRPr lang="en-US" sz="950" dirty="0"/>
          </a:p>
        </p:txBody>
      </p:sp>
      <p:sp>
        <p:nvSpPr>
          <p:cNvPr id="29" name="Shape 25"/>
          <p:cNvSpPr/>
          <p:nvPr/>
        </p:nvSpPr>
        <p:spPr>
          <a:xfrm>
            <a:off x="4187952" y="4617720"/>
            <a:ext cx="1673352" cy="502920"/>
          </a:xfrm>
          <a:prstGeom prst="roundRect">
            <a:avLst>
              <a:gd name="adj" fmla="val 18182"/>
            </a:avLst>
          </a:prstGeom>
          <a:solidFill>
            <a:srgbClr val="121417"/>
          </a:solidFill>
          <a:ln w="12700">
            <a:solidFill>
              <a:srgbClr val="2E3239"/>
            </a:solidFill>
            <a:prstDash val="solid"/>
          </a:ln>
        </p:spPr>
      </p:sp>
      <p:sp>
        <p:nvSpPr>
          <p:cNvPr id="30" name="Text 26"/>
          <p:cNvSpPr txBox="1"/>
          <p:nvPr/>
        </p:nvSpPr>
        <p:spPr>
          <a:xfrm>
            <a:off x="4261104"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Topluluklar (Reddit/Discord)</a:t>
            </a:r>
            <a:endParaRPr lang="en-US" sz="950" dirty="0"/>
          </a:p>
        </p:txBody>
      </p:sp>
      <p:sp>
        <p:nvSpPr>
          <p:cNvPr id="31" name="Shape 27"/>
          <p:cNvSpPr/>
          <p:nvPr/>
        </p:nvSpPr>
        <p:spPr>
          <a:xfrm>
            <a:off x="6007608" y="4617720"/>
            <a:ext cx="1673352" cy="502920"/>
          </a:xfrm>
          <a:prstGeom prst="roundRect">
            <a:avLst>
              <a:gd name="adj" fmla="val 18182"/>
            </a:avLst>
          </a:prstGeom>
          <a:solidFill>
            <a:srgbClr val="121417"/>
          </a:solidFill>
          <a:ln w="12700">
            <a:solidFill>
              <a:srgbClr val="2E3239"/>
            </a:solidFill>
            <a:prstDash val="solid"/>
          </a:ln>
        </p:spPr>
      </p:sp>
      <p:sp>
        <p:nvSpPr>
          <p:cNvPr id="32" name="Text 28"/>
          <p:cNvSpPr txBox="1"/>
          <p:nvPr/>
        </p:nvSpPr>
        <p:spPr>
          <a:xfrm>
            <a:off x="6080760"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Micro-influencer</a:t>
            </a:r>
            <a:endParaRPr lang="en-US" sz="950" dirty="0"/>
          </a:p>
        </p:txBody>
      </p:sp>
      <p:sp>
        <p:nvSpPr>
          <p:cNvPr id="33" name="Shape 29"/>
          <p:cNvSpPr/>
          <p:nvPr/>
        </p:nvSpPr>
        <p:spPr>
          <a:xfrm>
            <a:off x="7827264" y="4617720"/>
            <a:ext cx="1673352" cy="502920"/>
          </a:xfrm>
          <a:prstGeom prst="roundRect">
            <a:avLst>
              <a:gd name="adj" fmla="val 18182"/>
            </a:avLst>
          </a:prstGeom>
          <a:solidFill>
            <a:srgbClr val="121417"/>
          </a:solidFill>
          <a:ln w="12700">
            <a:solidFill>
              <a:srgbClr val="2E3239"/>
            </a:solidFill>
            <a:prstDash val="solid"/>
          </a:ln>
        </p:spPr>
      </p:sp>
      <p:sp>
        <p:nvSpPr>
          <p:cNvPr id="34" name="Text 30"/>
          <p:cNvSpPr txBox="1"/>
          <p:nvPr/>
        </p:nvSpPr>
        <p:spPr>
          <a:xfrm>
            <a:off x="7900416"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ASO</a:t>
            </a:r>
            <a:endParaRPr lang="en-US" sz="950" dirty="0"/>
          </a:p>
        </p:txBody>
      </p:sp>
      <p:sp>
        <p:nvSpPr>
          <p:cNvPr id="35" name="Shape 31"/>
          <p:cNvSpPr/>
          <p:nvPr/>
        </p:nvSpPr>
        <p:spPr>
          <a:xfrm>
            <a:off x="9646920" y="4617720"/>
            <a:ext cx="1673352" cy="502920"/>
          </a:xfrm>
          <a:prstGeom prst="roundRect">
            <a:avLst>
              <a:gd name="adj" fmla="val 18182"/>
            </a:avLst>
          </a:prstGeom>
          <a:solidFill>
            <a:srgbClr val="121417"/>
          </a:solidFill>
          <a:ln w="12700">
            <a:solidFill>
              <a:srgbClr val="2E3239"/>
            </a:solidFill>
            <a:prstDash val="solid"/>
          </a:ln>
        </p:spPr>
      </p:sp>
      <p:sp>
        <p:nvSpPr>
          <p:cNvPr id="36" name="Text 32"/>
          <p:cNvSpPr txBox="1"/>
          <p:nvPr/>
        </p:nvSpPr>
        <p:spPr>
          <a:xfrm>
            <a:off x="9720072"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Referral programı</a:t>
            </a:r>
            <a:endParaRPr lang="en-US" sz="950" dirty="0"/>
          </a:p>
        </p:txBody>
      </p:sp>
      <p:sp>
        <p:nvSpPr>
          <p:cNvPr id="37" name="Shape 33"/>
          <p:cNvSpPr/>
          <p:nvPr/>
        </p:nvSpPr>
        <p:spPr>
          <a:xfrm>
            <a:off x="548640" y="5440680"/>
            <a:ext cx="10607040" cy="868680"/>
          </a:xfrm>
          <a:prstGeom prst="roundRect">
            <a:avLst>
              <a:gd name="adj" fmla="val 12632"/>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38" name="Shape 34"/>
          <p:cNvSpPr/>
          <p:nvPr/>
        </p:nvSpPr>
        <p:spPr>
          <a:xfrm>
            <a:off x="822960" y="5605272"/>
            <a:ext cx="502920" cy="502920"/>
          </a:xfrm>
          <a:prstGeom prst="ellipse">
            <a:avLst/>
          </a:prstGeom>
          <a:solidFill>
            <a:srgbClr val="38BDF8"/>
          </a:solidFill>
          <a:ln/>
        </p:spPr>
      </p:sp>
      <p:pic>
        <p:nvPicPr>
          <p:cNvPr id="39" name="Image 2" descr="/private/tmp/claude-501/-Users-ulasbudak-Desktop-borsa-app/e78c8e07-ac03-4beb-bcc3-115504839e4a/scratchpad/deck/icons/mail-dark.png">    </p:cNvPr>
          <p:cNvPicPr>
            <a:picLocks noChangeAspect="1"/>
          </p:cNvPicPr>
          <p:nvPr/>
        </p:nvPicPr>
        <p:blipFill>
          <a:blip r:embed="rId3"/>
          <a:stretch>
            <a:fillRect/>
          </a:stretch>
        </p:blipFill>
        <p:spPr>
          <a:xfrm>
            <a:off x="888340" y="5670652"/>
            <a:ext cx="372161" cy="372161"/>
          </a:xfrm>
          <a:prstGeom prst="rect">
            <a:avLst/>
          </a:prstGeom>
        </p:spPr>
      </p:pic>
      <p:sp>
        <p:nvSpPr>
          <p:cNvPr id="40" name="Text 35"/>
          <p:cNvSpPr txBox="1"/>
          <p:nvPr/>
        </p:nvSpPr>
        <p:spPr>
          <a:xfrm>
            <a:off x="1508760" y="5513832"/>
            <a:ext cx="9418320" cy="274320"/>
          </a:xfrm>
          <a:prstGeom prst="rect">
            <a:avLst/>
          </a:prstGeom>
          <a:noFill/>
          <a:ln/>
        </p:spPr>
        <p:txBody>
          <a:bodyPr wrap="square" lIns="0" tIns="0" rIns="0" bIns="0" rtlCol="0" anchor="ctr"/>
          <a:lstStyle/>
          <a:p>
            <a:pPr indent="0" marL="0">
              <a:buNone/>
            </a:pPr>
            <a:r>
              <a:rPr lang="en-US" sz="1250" b="1" dirty="0">
                <a:solidFill>
                  <a:srgbClr val="F4F5F7"/>
                </a:solidFill>
                <a:latin typeface="Calibri" pitchFamily="34" charset="0"/>
                <a:ea typeface="Calibri" pitchFamily="34" charset="-122"/>
                <a:cs typeface="Calibri" pitchFamily="34" charset="-120"/>
              </a:rPr>
              <a:t>Growth loop: Günlük Sektör Bülteni</a:t>
            </a:r>
            <a:endParaRPr lang="en-US" sz="1250" dirty="0"/>
          </a:p>
        </p:txBody>
      </p:sp>
      <p:sp>
        <p:nvSpPr>
          <p:cNvPr id="41" name="Text 36"/>
          <p:cNvSpPr txBox="1"/>
          <p:nvPr/>
        </p:nvSpPr>
        <p:spPr>
          <a:xfrm>
            <a:off x="1508760" y="5806440"/>
            <a:ext cx="9418320" cy="457200"/>
          </a:xfrm>
          <a:prstGeom prst="rect">
            <a:avLst/>
          </a:prstGeom>
          <a:noFill/>
          <a:ln/>
        </p:spPr>
        <p:txBody>
          <a:bodyPr wrap="square" lIns="0" tIns="0" rIns="0" bIns="0" rtlCol="0" anchor="ctr"/>
          <a:lstStyle/>
          <a:p>
            <a:pPr indent="0" marL="0">
              <a:lnSpc>
                <a:spcPct val="120000"/>
              </a:lnSpc>
              <a:buNone/>
            </a:pPr>
            <a:r>
              <a:rPr lang="en-US" sz="1050" dirty="0">
                <a:solidFill>
                  <a:srgbClr val="9CA3AF"/>
                </a:solidFill>
                <a:latin typeface="Calibri" pitchFamily="34" charset="0"/>
                <a:ea typeface="Calibri" pitchFamily="34" charset="-122"/>
                <a:cs typeface="Calibri" pitchFamily="34" charset="-120"/>
              </a:rPr>
              <a:t>Mevcut bir premium özelliği (Story 9.3) sıfır ek geliştirme maliyetiyle bir edinim kanalına çevir: ücretsiz özet paylaş, tam raporu uygulama içine yönlendir.</a:t>
            </a:r>
            <a:endParaRPr lang="en-US" sz="1050" dirty="0"/>
          </a:p>
        </p:txBody>
      </p:sp>
      <p:sp>
        <p:nvSpPr>
          <p:cNvPr id="42" name="Text 37"/>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pic>
        <p:nvPicPr>
          <p:cNvPr id="43" name="Image 3" descr="/private/tmp/claude-501/-Users-ulasbudak-Desktop-borsa-app/e78c8e07-ac03-4beb-bcc3-115504839e4a/scratchpad/deck/logo_mark_accent.png">    </p:cNvPr>
          <p:cNvPicPr>
            <a:picLocks noChangeAspect="1"/>
          </p:cNvPicPr>
          <p:nvPr/>
        </p:nvPicPr>
        <p:blipFill>
          <a:blip r:embed="rId4"/>
          <a:stretch>
            <a:fillRect/>
          </a:stretch>
        </p:blipFill>
        <p:spPr>
          <a:xfrm>
            <a:off x="548640" y="6437376"/>
            <a:ext cx="173736" cy="173736"/>
          </a:xfrm>
          <a:prstGeom prst="rect">
            <a:avLst/>
          </a:prstGeom>
        </p:spPr>
      </p:pic>
      <p:sp>
        <p:nvSpPr>
          <p:cNvPr id="44" name="Text 38"/>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PAZARLAMA FIKIRLERI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Düşük bütçe, yüksek etki — beş somut fikir</a:t>
            </a:r>
            <a:endParaRPr lang="en-US" sz="3000" dirty="0"/>
          </a:p>
        </p:txBody>
      </p:sp>
      <p:sp>
        <p:nvSpPr>
          <p:cNvPr id="4" name="Shape 2"/>
          <p:cNvSpPr/>
          <p:nvPr/>
        </p:nvSpPr>
        <p:spPr>
          <a:xfrm>
            <a:off x="548640" y="1691640"/>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49808" y="1883664"/>
            <a:ext cx="457200" cy="457200"/>
          </a:xfrm>
          <a:prstGeom prst="ellipse">
            <a:avLst/>
          </a:prstGeom>
          <a:solidFill>
            <a:srgbClr val="3B82F6"/>
          </a:solidFill>
          <a:ln/>
        </p:spPr>
      </p:sp>
      <p:pic>
        <p:nvPicPr>
          <p:cNvPr id="6" name="Image 0" descr="/private/tmp/claude-501/-Users-ulasbudak-Desktop-borsa-app/e78c8e07-ac03-4beb-bcc3-115504839e4a/scratchpad/deck/icons/video-white.png">    </p:cNvPr>
          <p:cNvPicPr>
            <a:picLocks noChangeAspect="1"/>
          </p:cNvPicPr>
          <p:nvPr/>
        </p:nvPicPr>
        <p:blipFill>
          <a:blip r:embed="rId1"/>
          <a:stretch>
            <a:fillRect/>
          </a:stretch>
        </p:blipFill>
        <p:spPr>
          <a:xfrm>
            <a:off x="809244" y="1943100"/>
            <a:ext cx="338328" cy="338328"/>
          </a:xfrm>
          <a:prstGeom prst="rect">
            <a:avLst/>
          </a:prstGeom>
        </p:spPr>
      </p:pic>
      <p:sp>
        <p:nvSpPr>
          <p:cNvPr id="7" name="Text 4"/>
          <p:cNvSpPr txBox="1"/>
          <p:nvPr/>
        </p:nvSpPr>
        <p:spPr>
          <a:xfrm>
            <a:off x="1389888" y="1801368"/>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Kısa video (Shorts/Reels)</a:t>
            </a:r>
            <a:endParaRPr lang="en-US" sz="1150" dirty="0"/>
          </a:p>
        </p:txBody>
      </p:sp>
      <p:sp>
        <p:nvSpPr>
          <p:cNvPr id="8" name="Text 5"/>
          <p:cNvSpPr txBox="1"/>
          <p:nvPr/>
        </p:nvSpPr>
        <p:spPr>
          <a:xfrm>
            <a:off x="4251960" y="1801368"/>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“Aynı hisseye 3 görüş: kural, AI temel, AI teknik — hangisine güveniyorsun?”</a:t>
            </a:r>
            <a:endParaRPr lang="en-US" sz="1100" dirty="0"/>
          </a:p>
        </p:txBody>
      </p:sp>
      <p:sp>
        <p:nvSpPr>
          <p:cNvPr id="9" name="Text 6"/>
          <p:cNvSpPr txBox="1"/>
          <p:nvPr/>
        </p:nvSpPr>
        <p:spPr>
          <a:xfrm>
            <a:off x="9006840" y="1801368"/>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Prod. maliyeti ~sıfır (ekran kaydı)</a:t>
            </a:r>
            <a:endParaRPr lang="en-US" sz="950" dirty="0"/>
          </a:p>
        </p:txBody>
      </p:sp>
      <p:sp>
        <p:nvSpPr>
          <p:cNvPr id="10" name="Shape 7"/>
          <p:cNvSpPr/>
          <p:nvPr/>
        </p:nvSpPr>
        <p:spPr>
          <a:xfrm>
            <a:off x="548640" y="2624328"/>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749808" y="2816352"/>
            <a:ext cx="457200" cy="457200"/>
          </a:xfrm>
          <a:prstGeom prst="ellipse">
            <a:avLst/>
          </a:prstGeom>
          <a:solidFill>
            <a:srgbClr val="3B82F6"/>
          </a:solidFill>
          <a:ln/>
        </p:spPr>
      </p:sp>
      <p:pic>
        <p:nvPicPr>
          <p:cNvPr id="12" name="Image 1" descr="/private/tmp/claude-501/-Users-ulasbudak-Desktop-borsa-app/e78c8e07-ac03-4beb-bcc3-115504839e4a/scratchpad/deck/icons/hash-white.png">    </p:cNvPr>
          <p:cNvPicPr>
            <a:picLocks noChangeAspect="1"/>
          </p:cNvPicPr>
          <p:nvPr/>
        </p:nvPicPr>
        <p:blipFill>
          <a:blip r:embed="rId2"/>
          <a:stretch>
            <a:fillRect/>
          </a:stretch>
        </p:blipFill>
        <p:spPr>
          <a:xfrm>
            <a:off x="809244" y="2875788"/>
            <a:ext cx="338328" cy="338328"/>
          </a:xfrm>
          <a:prstGeom prst="rect">
            <a:avLst/>
          </a:prstGeom>
        </p:spPr>
      </p:pic>
      <p:sp>
        <p:nvSpPr>
          <p:cNvPr id="13" name="Text 9"/>
          <p:cNvSpPr txBox="1"/>
          <p:nvPr/>
        </p:nvSpPr>
        <p:spPr>
          <a:xfrm>
            <a:off x="1389888" y="2734056"/>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Finans X (Twitter)</a:t>
            </a:r>
            <a:endParaRPr lang="en-US" sz="1150" dirty="0"/>
          </a:p>
        </p:txBody>
      </p:sp>
      <p:sp>
        <p:nvSpPr>
          <p:cNvPr id="14" name="Text 10"/>
          <p:cNvSpPr txBox="1"/>
          <p:nvPr/>
        </p:nvSpPr>
        <p:spPr>
          <a:xfrm>
            <a:off x="4251960" y="2734056"/>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Günün Skoru: her gün 1 BIST + 1 ABD hissesinin özet skoru, linkle</a:t>
            </a:r>
            <a:endParaRPr lang="en-US" sz="1100" dirty="0"/>
          </a:p>
        </p:txBody>
      </p:sp>
      <p:sp>
        <p:nvSpPr>
          <p:cNvPr id="15" name="Text 11"/>
          <p:cNvSpPr txBox="1"/>
          <p:nvPr/>
        </p:nvSpPr>
        <p:spPr>
          <a:xfrm>
            <a:off x="9006840" y="2734056"/>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Otomatikleştirilebilir, düşük emek</a:t>
            </a:r>
            <a:endParaRPr lang="en-US" sz="950" dirty="0"/>
          </a:p>
        </p:txBody>
      </p:sp>
      <p:sp>
        <p:nvSpPr>
          <p:cNvPr id="16" name="Shape 12"/>
          <p:cNvSpPr/>
          <p:nvPr/>
        </p:nvSpPr>
        <p:spPr>
          <a:xfrm>
            <a:off x="548640" y="3557016"/>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749808" y="3749040"/>
            <a:ext cx="457200" cy="457200"/>
          </a:xfrm>
          <a:prstGeom prst="ellipse">
            <a:avLst/>
          </a:prstGeom>
          <a:solidFill>
            <a:srgbClr val="3B82F6"/>
          </a:solidFill>
          <a:ln/>
        </p:spPr>
      </p:sp>
      <p:pic>
        <p:nvPicPr>
          <p:cNvPr id="18" name="Image 2" descr="/private/tmp/claude-501/-Users-ulasbudak-Desktop-borsa-app/e78c8e07-ac03-4beb-bcc3-115504839e4a/scratchpad/deck/icons/users-white.png">    </p:cNvPr>
          <p:cNvPicPr>
            <a:picLocks noChangeAspect="1"/>
          </p:cNvPicPr>
          <p:nvPr/>
        </p:nvPicPr>
        <p:blipFill>
          <a:blip r:embed="rId3"/>
          <a:stretch>
            <a:fillRect/>
          </a:stretch>
        </p:blipFill>
        <p:spPr>
          <a:xfrm>
            <a:off x="809244" y="3808476"/>
            <a:ext cx="338328" cy="338328"/>
          </a:xfrm>
          <a:prstGeom prst="rect">
            <a:avLst/>
          </a:prstGeom>
        </p:spPr>
      </p:pic>
      <p:sp>
        <p:nvSpPr>
          <p:cNvPr id="19" name="Text 14"/>
          <p:cNvSpPr txBox="1"/>
          <p:nvPr/>
        </p:nvSpPr>
        <p:spPr>
          <a:xfrm>
            <a:off x="1389888" y="3666744"/>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Topluluklar (Reddit/Discord/Ekşi)</a:t>
            </a:r>
            <a:endParaRPr lang="en-US" sz="1150" dirty="0"/>
          </a:p>
        </p:txBody>
      </p:sp>
      <p:sp>
        <p:nvSpPr>
          <p:cNvPr id="20" name="Text 15"/>
          <p:cNvSpPr txBox="1"/>
          <p:nvPr/>
        </p:nvSpPr>
        <p:spPr>
          <a:xfrm>
            <a:off x="4251960" y="3666744"/>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Kurucu AMA'sı: “Aracı kurum değilim, tarafsızım” şeffaflık anlatısı</a:t>
            </a:r>
            <a:endParaRPr lang="en-US" sz="1100" dirty="0"/>
          </a:p>
        </p:txBody>
      </p:sp>
      <p:sp>
        <p:nvSpPr>
          <p:cNvPr id="21" name="Text 16"/>
          <p:cNvSpPr txBox="1"/>
          <p:nvPr/>
        </p:nvSpPr>
        <p:spPr>
          <a:xfrm>
            <a:off x="9006840" y="3666744"/>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Sıfır bütçe, sadece zaman</a:t>
            </a:r>
            <a:endParaRPr lang="en-US" sz="950" dirty="0"/>
          </a:p>
        </p:txBody>
      </p:sp>
      <p:sp>
        <p:nvSpPr>
          <p:cNvPr id="22" name="Shape 17"/>
          <p:cNvSpPr/>
          <p:nvPr/>
        </p:nvSpPr>
        <p:spPr>
          <a:xfrm>
            <a:off x="548640" y="4489704"/>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3" name="Shape 18"/>
          <p:cNvSpPr/>
          <p:nvPr/>
        </p:nvSpPr>
        <p:spPr>
          <a:xfrm>
            <a:off x="749808" y="4681728"/>
            <a:ext cx="457200" cy="457200"/>
          </a:xfrm>
          <a:prstGeom prst="ellipse">
            <a:avLst/>
          </a:prstGeom>
          <a:solidFill>
            <a:srgbClr val="3B82F6"/>
          </a:solidFill>
          <a:ln/>
        </p:spPr>
      </p:sp>
      <p:pic>
        <p:nvPicPr>
          <p:cNvPr id="24" name="Image 3" descr="/private/tmp/claude-501/-Users-ulasbudak-Desktop-borsa-app/e78c8e07-ac03-4beb-bcc3-115504839e4a/scratchpad/deck/icons/star-white.png">    </p:cNvPr>
          <p:cNvPicPr>
            <a:picLocks noChangeAspect="1"/>
          </p:cNvPicPr>
          <p:nvPr/>
        </p:nvPicPr>
        <p:blipFill>
          <a:blip r:embed="rId4"/>
          <a:stretch>
            <a:fillRect/>
          </a:stretch>
        </p:blipFill>
        <p:spPr>
          <a:xfrm>
            <a:off x="809244" y="4741164"/>
            <a:ext cx="338328" cy="338328"/>
          </a:xfrm>
          <a:prstGeom prst="rect">
            <a:avLst/>
          </a:prstGeom>
        </p:spPr>
      </p:pic>
      <p:sp>
        <p:nvSpPr>
          <p:cNvPr id="25" name="Text 19"/>
          <p:cNvSpPr txBox="1"/>
          <p:nvPr/>
        </p:nvSpPr>
        <p:spPr>
          <a:xfrm>
            <a:off x="1389888" y="4599432"/>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Micro-influencer ortaklığı</a:t>
            </a:r>
            <a:endParaRPr lang="en-US" sz="1150" dirty="0"/>
          </a:p>
        </p:txBody>
      </p:sp>
      <p:sp>
        <p:nvSpPr>
          <p:cNvPr id="26" name="Text 20"/>
          <p:cNvSpPr txBox="1"/>
          <p:nvPr/>
        </p:nvSpPr>
        <p:spPr>
          <a:xfrm>
            <a:off x="4251960" y="4599432"/>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İlk 100 kullanıcıya ücretsiz premium karşılığında dürüst inceleme</a:t>
            </a:r>
            <a:endParaRPr lang="en-US" sz="1100" dirty="0"/>
          </a:p>
        </p:txBody>
      </p:sp>
      <p:sp>
        <p:nvSpPr>
          <p:cNvPr id="27" name="Text 21"/>
          <p:cNvSpPr txBox="1"/>
          <p:nvPr/>
        </p:nvSpPr>
        <p:spPr>
          <a:xfrm>
            <a:off x="9006840" y="4599432"/>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Marjinal maliyet ~sıfır (özellikler zaten ücretsiz)</a:t>
            </a:r>
            <a:endParaRPr lang="en-US" sz="950" dirty="0"/>
          </a:p>
        </p:txBody>
      </p:sp>
      <p:sp>
        <p:nvSpPr>
          <p:cNvPr id="28" name="Shape 22"/>
          <p:cNvSpPr/>
          <p:nvPr/>
        </p:nvSpPr>
        <p:spPr>
          <a:xfrm>
            <a:off x="548640" y="5422392"/>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9" name="Shape 23"/>
          <p:cNvSpPr/>
          <p:nvPr/>
        </p:nvSpPr>
        <p:spPr>
          <a:xfrm>
            <a:off x="749808" y="5614416"/>
            <a:ext cx="457200" cy="457200"/>
          </a:xfrm>
          <a:prstGeom prst="ellipse">
            <a:avLst/>
          </a:prstGeom>
          <a:solidFill>
            <a:srgbClr val="3B82F6"/>
          </a:solidFill>
          <a:ln/>
        </p:spPr>
      </p:sp>
      <p:pic>
        <p:nvPicPr>
          <p:cNvPr id="30" name="Image 4" descr="/private/tmp/claude-501/-Users-ulasbudak-Desktop-borsa-app/e78c8e07-ac03-4beb-bcc3-115504839e4a/scratchpad/deck/icons/mail-white.png">    </p:cNvPr>
          <p:cNvPicPr>
            <a:picLocks noChangeAspect="1"/>
          </p:cNvPicPr>
          <p:nvPr/>
        </p:nvPicPr>
        <p:blipFill>
          <a:blip r:embed="rId5"/>
          <a:stretch>
            <a:fillRect/>
          </a:stretch>
        </p:blipFill>
        <p:spPr>
          <a:xfrm>
            <a:off x="809244" y="5673852"/>
            <a:ext cx="338328" cy="338328"/>
          </a:xfrm>
          <a:prstGeom prst="rect">
            <a:avLst/>
          </a:prstGeom>
        </p:spPr>
      </p:pic>
      <p:sp>
        <p:nvSpPr>
          <p:cNvPr id="31" name="Text 24"/>
          <p:cNvSpPr txBox="1"/>
          <p:nvPr/>
        </p:nvSpPr>
        <p:spPr>
          <a:xfrm>
            <a:off x="1389888" y="5532120"/>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E-posta / içerik döngüsü</a:t>
            </a:r>
            <a:endParaRPr lang="en-US" sz="1150" dirty="0"/>
          </a:p>
        </p:txBody>
      </p:sp>
      <p:sp>
        <p:nvSpPr>
          <p:cNvPr id="32" name="Text 25"/>
          <p:cNvSpPr txBox="1"/>
          <p:nvPr/>
        </p:nvSpPr>
        <p:spPr>
          <a:xfrm>
            <a:off x="4251960" y="5532120"/>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Sektör Bülteni'nin ücretsiz özetini paylaş, tam raporu içeride göster</a:t>
            </a:r>
            <a:endParaRPr lang="en-US" sz="1100" dirty="0"/>
          </a:p>
        </p:txBody>
      </p:sp>
      <p:sp>
        <p:nvSpPr>
          <p:cNvPr id="33" name="Text 26"/>
          <p:cNvSpPr txBox="1"/>
          <p:nvPr/>
        </p:nvSpPr>
        <p:spPr>
          <a:xfrm>
            <a:off x="9006840" y="5532120"/>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Var olan altyapı, ek geliştirme yok</a:t>
            </a:r>
            <a:endParaRPr lang="en-US" sz="950" dirty="0"/>
          </a:p>
        </p:txBody>
      </p:sp>
      <p:sp>
        <p:nvSpPr>
          <p:cNvPr id="34" name="Text 27"/>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pic>
        <p:nvPicPr>
          <p:cNvPr id="35" name="Image 5" descr="/private/tmp/claude-501/-Users-ulasbudak-Desktop-borsa-app/e78c8e07-ac03-4beb-bcc3-115504839e4a/scratchpad/deck/logo_mark_accent.png">    </p:cNvPr>
          <p:cNvPicPr>
            <a:picLocks noChangeAspect="1"/>
          </p:cNvPicPr>
          <p:nvPr/>
        </p:nvPicPr>
        <p:blipFill>
          <a:blip r:embed="rId6"/>
          <a:stretch>
            <a:fillRect/>
          </a:stretch>
        </p:blipFill>
        <p:spPr>
          <a:xfrm>
            <a:off x="548640" y="6437376"/>
            <a:ext cx="173736" cy="173736"/>
          </a:xfrm>
          <a:prstGeom prst="rect">
            <a:avLst/>
          </a:prstGeom>
        </p:spPr>
      </p:pic>
      <p:sp>
        <p:nvSpPr>
          <p:cNvPr id="36" name="Text 28"/>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BAŞARI METRIKLERI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Kuzey Yıldızı: Haftalık Karar Destek Etkileşimi</a:t>
            </a:r>
            <a:endParaRPr lang="en-US" sz="3000" dirty="0"/>
          </a:p>
        </p:txBody>
      </p:sp>
      <p:sp>
        <p:nvSpPr>
          <p:cNvPr id="4" name="Shape 2"/>
          <p:cNvSpPr/>
          <p:nvPr/>
        </p:nvSpPr>
        <p:spPr>
          <a:xfrm>
            <a:off x="548640" y="1691640"/>
            <a:ext cx="10607040" cy="1188720"/>
          </a:xfrm>
          <a:prstGeom prst="roundRect">
            <a:avLst>
              <a:gd name="adj" fmla="val 9231"/>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47672"/>
            <a:ext cx="685800" cy="685800"/>
          </a:xfrm>
          <a:prstGeom prst="ellipse">
            <a:avLst/>
          </a:prstGeom>
          <a:solidFill>
            <a:srgbClr val="3B82F6"/>
          </a:solidFill>
          <a:ln/>
        </p:spPr>
      </p:sp>
      <p:pic>
        <p:nvPicPr>
          <p:cNvPr id="6" name="Image 0" descr="/private/tmp/claude-501/-Users-ulasbudak-Desktop-borsa-app/e78c8e07-ac03-4beb-bcc3-115504839e4a/scratchpad/deck/icons/target-white.png">    </p:cNvPr>
          <p:cNvPicPr>
            <a:picLocks noChangeAspect="1"/>
          </p:cNvPicPr>
          <p:nvPr/>
        </p:nvPicPr>
        <p:blipFill>
          <a:blip r:embed="rId1"/>
          <a:stretch>
            <a:fillRect/>
          </a:stretch>
        </p:blipFill>
        <p:spPr>
          <a:xfrm>
            <a:off x="912114" y="2036826"/>
            <a:ext cx="507492" cy="507492"/>
          </a:xfrm>
          <a:prstGeom prst="rect">
            <a:avLst/>
          </a:prstGeom>
        </p:spPr>
      </p:pic>
      <p:sp>
        <p:nvSpPr>
          <p:cNvPr id="7" name="Text 4"/>
          <p:cNvSpPr txBox="1"/>
          <p:nvPr/>
        </p:nvSpPr>
        <p:spPr>
          <a:xfrm>
            <a:off x="1691640" y="1810512"/>
            <a:ext cx="9235440" cy="365760"/>
          </a:xfrm>
          <a:prstGeom prst="rect">
            <a:avLst/>
          </a:prstGeom>
          <a:noFill/>
          <a:ln/>
        </p:spPr>
        <p:txBody>
          <a:bodyPr wrap="square" lIns="0" tIns="0" rIns="0" bIns="0" rtlCol="0" anchor="ctr"/>
          <a:lstStyle/>
          <a:p>
            <a:pPr indent="0" marL="0">
              <a:buNone/>
            </a:pPr>
            <a:r>
              <a:rPr lang="en-US" sz="1500" b="1" dirty="0">
                <a:solidFill>
                  <a:srgbClr val="F4F5F7"/>
                </a:solidFill>
                <a:latin typeface="Calibri" pitchFamily="34" charset="0"/>
                <a:ea typeface="Calibri" pitchFamily="34" charset="-122"/>
                <a:cs typeface="Calibri" pitchFamily="34" charset="-120"/>
              </a:rPr>
              <a:t>Kullanıcı başına haftalık tamamlanan karar-destek eylemi</a:t>
            </a:r>
            <a:endParaRPr lang="en-US" sz="1500" dirty="0"/>
          </a:p>
        </p:txBody>
      </p:sp>
      <p:sp>
        <p:nvSpPr>
          <p:cNvPr id="8" name="Text 5"/>
          <p:cNvSpPr txBox="1"/>
          <p:nvPr/>
        </p:nvSpPr>
        <p:spPr>
          <a:xfrm>
            <a:off x="1691640" y="2194560"/>
            <a:ext cx="9235440" cy="594360"/>
          </a:xfrm>
          <a:prstGeom prst="rect">
            <a:avLst/>
          </a:prstGeom>
          <a:noFill/>
          <a:ln/>
        </p:spPr>
        <p:txBody>
          <a:bodyPr wrap="square" lIns="0" tIns="0" rIns="0" bIns="0" rtlCol="0" anchor="ctr"/>
          <a:lstStyle/>
          <a:p>
            <a:pPr indent="0" marL="0">
              <a:lnSpc>
                <a:spcPct val="125000"/>
              </a:lnSpc>
              <a:buNone/>
            </a:pPr>
            <a:r>
              <a:rPr lang="en-US" sz="1150" dirty="0">
                <a:solidFill>
                  <a:srgbClr val="9CA3AF"/>
                </a:solidFill>
                <a:latin typeface="Calibri" pitchFamily="34" charset="0"/>
                <a:ea typeface="Calibri" pitchFamily="34" charset="-122"/>
                <a:cs typeface="Calibri" pitchFamily="34" charset="-120"/>
              </a:rPr>
              <a:t>(hisse detay incelemesi + tarama çalıştırma + alarm/izleme listesi eylemi toplamı)</a:t>
            </a:r>
            <a:endParaRPr lang="en-US" sz="1150" dirty="0"/>
          </a:p>
        </p:txBody>
      </p:sp>
      <p:sp>
        <p:nvSpPr>
          <p:cNvPr id="9" name="Text 6"/>
          <p:cNvSpPr txBox="1"/>
          <p:nvPr/>
        </p:nvSpPr>
        <p:spPr>
          <a:xfrm>
            <a:off x="548640" y="315468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GIRDI METRIKLERI (INPUT METRICS)</a:t>
            </a:r>
            <a:endParaRPr lang="en-US" sz="1200" dirty="0"/>
          </a:p>
        </p:txBody>
      </p:sp>
      <p:sp>
        <p:nvSpPr>
          <p:cNvPr id="10" name="Shape 7"/>
          <p:cNvSpPr/>
          <p:nvPr/>
        </p:nvSpPr>
        <p:spPr>
          <a:xfrm>
            <a:off x="548640"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1559052" y="3721608"/>
            <a:ext cx="493776" cy="493776"/>
          </a:xfrm>
          <a:prstGeom prst="ellipse">
            <a:avLst/>
          </a:prstGeom>
          <a:solidFill>
            <a:srgbClr val="1E2126"/>
          </a:solidFill>
          <a:ln/>
        </p:spPr>
      </p:sp>
      <p:pic>
        <p:nvPicPr>
          <p:cNvPr id="12" name="Image 1" descr="/private/tmp/claude-501/-Users-ulasbudak-Desktop-borsa-app/e78c8e07-ac03-4beb-bcc3-115504839e4a/scratchpad/deck/icons/users-accent.png">    </p:cNvPr>
          <p:cNvPicPr>
            <a:picLocks noChangeAspect="1"/>
          </p:cNvPicPr>
          <p:nvPr/>
        </p:nvPicPr>
        <p:blipFill>
          <a:blip r:embed="rId2"/>
          <a:stretch>
            <a:fillRect/>
          </a:stretch>
        </p:blipFill>
        <p:spPr>
          <a:xfrm>
            <a:off x="1623243" y="3785799"/>
            <a:ext cx="365394" cy="365394"/>
          </a:xfrm>
          <a:prstGeom prst="rect">
            <a:avLst/>
          </a:prstGeom>
        </p:spPr>
      </p:pic>
      <p:sp>
        <p:nvSpPr>
          <p:cNvPr id="13" name="Text 9"/>
          <p:cNvSpPr txBox="1"/>
          <p:nvPr/>
        </p:nvSpPr>
        <p:spPr>
          <a:xfrm>
            <a:off x="685800"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Haftalık Aktif Kullanıcı (WAU)</a:t>
            </a:r>
            <a:endParaRPr lang="en-US" sz="1050" dirty="0"/>
          </a:p>
        </p:txBody>
      </p:sp>
      <p:sp>
        <p:nvSpPr>
          <p:cNvPr id="14" name="Shape 10"/>
          <p:cNvSpPr/>
          <p:nvPr/>
        </p:nvSpPr>
        <p:spPr>
          <a:xfrm>
            <a:off x="3264408"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4274820" y="3721608"/>
            <a:ext cx="493776" cy="493776"/>
          </a:xfrm>
          <a:prstGeom prst="ellipse">
            <a:avLst/>
          </a:prstGeom>
          <a:solidFill>
            <a:srgbClr val="1E2126"/>
          </a:solidFill>
          <a:ln/>
        </p:spPr>
      </p:sp>
      <p:pic>
        <p:nvPicPr>
          <p:cNvPr id="16" name="Image 2" descr="/private/tmp/claude-501/-Users-ulasbudak-Desktop-borsa-app/e78c8e07-ac03-4beb-bcc3-115504839e4a/scratchpad/deck/icons/eye-accent.png">    </p:cNvPr>
          <p:cNvPicPr>
            <a:picLocks noChangeAspect="1"/>
          </p:cNvPicPr>
          <p:nvPr/>
        </p:nvPicPr>
        <p:blipFill>
          <a:blip r:embed="rId3"/>
          <a:stretch>
            <a:fillRect/>
          </a:stretch>
        </p:blipFill>
        <p:spPr>
          <a:xfrm>
            <a:off x="4339011" y="3785799"/>
            <a:ext cx="365394" cy="365394"/>
          </a:xfrm>
          <a:prstGeom prst="rect">
            <a:avLst/>
          </a:prstGeom>
        </p:spPr>
      </p:pic>
      <p:sp>
        <p:nvSpPr>
          <p:cNvPr id="17" name="Text 12"/>
          <p:cNvSpPr txBox="1"/>
          <p:nvPr/>
        </p:nvSpPr>
        <p:spPr>
          <a:xfrm>
            <a:off x="3401568"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Kullanıcı başına hisse detay görüntüleme</a:t>
            </a:r>
            <a:endParaRPr lang="en-US" sz="1050" dirty="0"/>
          </a:p>
        </p:txBody>
      </p:sp>
      <p:sp>
        <p:nvSpPr>
          <p:cNvPr id="18" name="Shape 13"/>
          <p:cNvSpPr/>
          <p:nvPr/>
        </p:nvSpPr>
        <p:spPr>
          <a:xfrm>
            <a:off x="5980176"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9" name="Shape 14"/>
          <p:cNvSpPr/>
          <p:nvPr/>
        </p:nvSpPr>
        <p:spPr>
          <a:xfrm>
            <a:off x="6990588" y="3721608"/>
            <a:ext cx="493776" cy="493776"/>
          </a:xfrm>
          <a:prstGeom prst="ellipse">
            <a:avLst/>
          </a:prstGeom>
          <a:solidFill>
            <a:srgbClr val="1E2126"/>
          </a:solidFill>
          <a:ln/>
        </p:spPr>
      </p:sp>
      <p:pic>
        <p:nvPicPr>
          <p:cNvPr id="20" name="Image 3" descr="/private/tmp/claude-501/-Users-ulasbudak-Desktop-borsa-app/e78c8e07-ac03-4beb-bcc3-115504839e4a/scratchpad/deck/icons/briefcase-accent.png">    </p:cNvPr>
          <p:cNvPicPr>
            <a:picLocks noChangeAspect="1"/>
          </p:cNvPicPr>
          <p:nvPr/>
        </p:nvPicPr>
        <p:blipFill>
          <a:blip r:embed="rId4"/>
          <a:stretch>
            <a:fillRect/>
          </a:stretch>
        </p:blipFill>
        <p:spPr>
          <a:xfrm>
            <a:off x="7054779" y="3785799"/>
            <a:ext cx="365394" cy="365394"/>
          </a:xfrm>
          <a:prstGeom prst="rect">
            <a:avLst/>
          </a:prstGeom>
        </p:spPr>
      </p:pic>
      <p:sp>
        <p:nvSpPr>
          <p:cNvPr id="21" name="Text 15"/>
          <p:cNvSpPr txBox="1"/>
          <p:nvPr/>
        </p:nvSpPr>
        <p:spPr>
          <a:xfrm>
            <a:off x="6117336"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İzleme listesine eklenen hisse sayısı</a:t>
            </a:r>
            <a:endParaRPr lang="en-US" sz="1050" dirty="0"/>
          </a:p>
        </p:txBody>
      </p:sp>
      <p:sp>
        <p:nvSpPr>
          <p:cNvPr id="22" name="Shape 16"/>
          <p:cNvSpPr/>
          <p:nvPr/>
        </p:nvSpPr>
        <p:spPr>
          <a:xfrm>
            <a:off x="8695944"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3" name="Shape 17"/>
          <p:cNvSpPr/>
          <p:nvPr/>
        </p:nvSpPr>
        <p:spPr>
          <a:xfrm>
            <a:off x="9706356" y="3721608"/>
            <a:ext cx="493776" cy="493776"/>
          </a:xfrm>
          <a:prstGeom prst="ellipse">
            <a:avLst/>
          </a:prstGeom>
          <a:solidFill>
            <a:srgbClr val="1E2126"/>
          </a:solidFill>
          <a:ln/>
        </p:spPr>
      </p:sp>
      <p:pic>
        <p:nvPicPr>
          <p:cNvPr id="24" name="Image 4" descr="/private/tmp/claude-501/-Users-ulasbudak-Desktop-borsa-app/e78c8e07-ac03-4beb-bcc3-115504839e4a/scratchpad/deck/icons/dollarSign-accent.png">    </p:cNvPr>
          <p:cNvPicPr>
            <a:picLocks noChangeAspect="1"/>
          </p:cNvPicPr>
          <p:nvPr/>
        </p:nvPicPr>
        <p:blipFill>
          <a:blip r:embed="rId5"/>
          <a:stretch>
            <a:fillRect/>
          </a:stretch>
        </p:blipFill>
        <p:spPr>
          <a:xfrm>
            <a:off x="9770547" y="3785799"/>
            <a:ext cx="365394" cy="365394"/>
          </a:xfrm>
          <a:prstGeom prst="rect">
            <a:avLst/>
          </a:prstGeom>
        </p:spPr>
      </p:pic>
      <p:sp>
        <p:nvSpPr>
          <p:cNvPr id="25" name="Text 18"/>
          <p:cNvSpPr txBox="1"/>
          <p:nvPr/>
        </p:nvSpPr>
        <p:spPr>
          <a:xfrm>
            <a:off x="8833104"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Ücretsiz → premium dönüşüm oranı</a:t>
            </a:r>
            <a:endParaRPr lang="en-US" sz="1050" dirty="0"/>
          </a:p>
        </p:txBody>
      </p:sp>
      <p:sp>
        <p:nvSpPr>
          <p:cNvPr id="26" name="Text 19"/>
          <p:cNvSpPr txBox="1"/>
          <p:nvPr/>
        </p:nvSpPr>
        <p:spPr>
          <a:xfrm>
            <a:off x="548640" y="521208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PRD BAŞARI METRIKLERI (KARŞI-METRIKLERLE)</a:t>
            </a:r>
            <a:endParaRPr lang="en-US" sz="1200" dirty="0"/>
          </a:p>
        </p:txBody>
      </p:sp>
      <p:sp>
        <p:nvSpPr>
          <p:cNvPr id="27" name="Text 20"/>
          <p:cNvSpPr txBox="1"/>
          <p:nvPr/>
        </p:nvSpPr>
        <p:spPr>
          <a:xfrm>
            <a:off x="548640" y="5532120"/>
            <a:ext cx="10607040" cy="82296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1100" dirty="0">
                <a:solidFill>
                  <a:srgbClr val="9CA3AF"/>
                </a:solidFill>
                <a:latin typeface="Calibri" pitchFamily="34" charset="0"/>
                <a:ea typeface="Calibri" pitchFamily="34" charset="-122"/>
                <a:cs typeface="Calibri" pitchFamily="34" charset="-120"/>
              </a:rPr>
              <a:t>MAU artışı</a:t>
            </a:r>
            <a:endParaRPr lang="en-US" sz="1100" dirty="0"/>
          </a:p>
          <a:p>
            <a:pPr marL="342900" indent="-342900">
              <a:lnSpc>
                <a:spcPct val="120000"/>
              </a:lnSpc>
              <a:spcAft>
                <a:spcPts val="400"/>
              </a:spcAft>
              <a:buSzPct val="100000"/>
              <a:buChar char="•"/>
            </a:pPr>
            <a:r>
              <a:rPr lang="en-US" sz="1100" dirty="0">
                <a:solidFill>
                  <a:srgbClr val="9CA3AF"/>
                </a:solidFill>
                <a:latin typeface="Calibri" pitchFamily="34" charset="0"/>
                <a:ea typeface="Calibri" pitchFamily="34" charset="-122"/>
                <a:cs typeface="Calibri" pitchFamily="34" charset="-120"/>
              </a:rPr>
              <a:t>30 günlük kullanıcı elde tutma (retention) artışı</a:t>
            </a:r>
            <a:endParaRPr lang="en-US" sz="1100" dirty="0"/>
          </a:p>
          <a:p>
            <a:pPr marL="342900" indent="-342900">
              <a:lnSpc>
                <a:spcPct val="120000"/>
              </a:lnSpc>
              <a:buSzPct val="100000"/>
              <a:buChar char="•"/>
            </a:pPr>
            <a:r>
              <a:rPr lang="en-US" sz="1100" dirty="0">
                <a:solidFill>
                  <a:srgbClr val="9CA3AF"/>
                </a:solidFill>
                <a:latin typeface="Calibri" pitchFamily="34" charset="0"/>
                <a:ea typeface="Calibri" pitchFamily="34" charset="-122"/>
                <a:cs typeface="Calibri" pitchFamily="34" charset="-120"/>
              </a:rPr>
              <a:t>Karşı-metrik: destek/şikayet oranı ve veri doğruluğu şikayeti artmamalı</a:t>
            </a:r>
            <a:endParaRPr lang="en-US" sz="1100" dirty="0"/>
          </a:p>
        </p:txBody>
      </p:sp>
      <p:sp>
        <p:nvSpPr>
          <p:cNvPr id="28" name="Text 21"/>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pic>
        <p:nvPicPr>
          <p:cNvPr id="29" name="Image 5" descr="/private/tmp/claude-501/-Users-ulasbudak-Desktop-borsa-app/e78c8e07-ac03-4beb-bcc3-115504839e4a/scratchpad/deck/logo_mark_accent.png">    </p:cNvPr>
          <p:cNvPicPr>
            <a:picLocks noChangeAspect="1"/>
          </p:cNvPicPr>
          <p:nvPr/>
        </p:nvPicPr>
        <p:blipFill>
          <a:blip r:embed="rId6"/>
          <a:stretch>
            <a:fillRect/>
          </a:stretch>
        </p:blipFill>
        <p:spPr>
          <a:xfrm>
            <a:off x="548640" y="6437376"/>
            <a:ext cx="173736" cy="173736"/>
          </a:xfrm>
          <a:prstGeom prst="rect">
            <a:avLst/>
          </a:prstGeom>
        </p:spPr>
      </p:pic>
      <p:sp>
        <p:nvSpPr>
          <p:cNvPr id="30" name="Text 22"/>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DURUM &amp; YOL HARITASI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MVP üretimde, AI katmanı sıradaki öncelik</a:t>
            </a:r>
            <a:endParaRPr lang="en-US" sz="3000" dirty="0"/>
          </a:p>
        </p:txBody>
      </p:sp>
      <p:sp>
        <p:nvSpPr>
          <p:cNvPr id="4" name="Shape 2"/>
          <p:cNvSpPr/>
          <p:nvPr/>
        </p:nvSpPr>
        <p:spPr>
          <a:xfrm>
            <a:off x="548640" y="1691640"/>
            <a:ext cx="5166360" cy="4023360"/>
          </a:xfrm>
          <a:prstGeom prst="roundRect">
            <a:avLst>
              <a:gd name="adj" fmla="val 2727"/>
            </a:avLst>
          </a:prstGeom>
          <a:solidFill>
            <a:srgbClr val="1E2126"/>
          </a:solidFill>
          <a:ln w="12700">
            <a:solidFill>
              <a:srgbClr val="34D39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47672"/>
            <a:ext cx="502920" cy="502920"/>
          </a:xfrm>
          <a:prstGeom prst="ellipse">
            <a:avLst/>
          </a:prstGeom>
          <a:solidFill>
            <a:srgbClr val="34D399"/>
          </a:solidFill>
          <a:ln/>
        </p:spPr>
      </p:sp>
      <p:pic>
        <p:nvPicPr>
          <p:cNvPr id="6" name="Image 0" descr="/private/tmp/claude-501/-Users-ulasbudak-Desktop-borsa-app/e78c8e07-ac03-4beb-bcc3-115504839e4a/scratchpad/deck/icons/checkCircle-dark.png">    </p:cNvPr>
          <p:cNvPicPr>
            <a:picLocks noChangeAspect="1"/>
          </p:cNvPicPr>
          <p:nvPr/>
        </p:nvPicPr>
        <p:blipFill>
          <a:blip r:embed="rId1"/>
          <a:stretch>
            <a:fillRect/>
          </a:stretch>
        </p:blipFill>
        <p:spPr>
          <a:xfrm>
            <a:off x="888340" y="2013052"/>
            <a:ext cx="372161" cy="372161"/>
          </a:xfrm>
          <a:prstGeom prst="rect">
            <a:avLst/>
          </a:prstGeom>
        </p:spPr>
      </p:pic>
      <p:sp>
        <p:nvSpPr>
          <p:cNvPr id="7" name="Text 4"/>
          <p:cNvSpPr txBox="1"/>
          <p:nvPr/>
        </p:nvSpPr>
        <p:spPr>
          <a:xfrm>
            <a:off x="1508760" y="2029968"/>
            <a:ext cx="4023360"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Bugün — Canlı &amp; Üretimde</a:t>
            </a:r>
            <a:endParaRPr lang="en-US" sz="1400" dirty="0"/>
          </a:p>
        </p:txBody>
      </p:sp>
      <p:sp>
        <p:nvSpPr>
          <p:cNvPr id="8" name="Text 5"/>
          <p:cNvSpPr txBox="1"/>
          <p:nvPr/>
        </p:nvSpPr>
        <p:spPr>
          <a:xfrm>
            <a:off x="822960" y="2514600"/>
            <a:ext cx="4572000" cy="30175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Web (Vercel) + API (Render) + ayrı prod Supabase — 2026-09-21'den beri canlı</a:t>
            </a:r>
            <a:endParaRPr lang="en-US" sz="1150" dirty="0"/>
          </a:p>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1-8 tamamlandı: kimlik doğrulama, temel analiz, teknik analiz, tarama, izleme/alarm, portföy, kişiselleştirme, freemium altyapısı</a:t>
            </a:r>
            <a:endParaRPr lang="en-US" sz="1150" dirty="0"/>
          </a:p>
          <a:p>
            <a:pPr marL="342900" indent="-342900">
              <a:lnSpc>
                <a:spcPct val="130000"/>
              </a:lnSpc>
              <a:buSzPct val="100000"/>
              <a:buChar char="•"/>
            </a:pPr>
            <a:r>
              <a:rPr lang="en-US" sz="1150" dirty="0">
                <a:solidFill>
                  <a:srgbClr val="F4F5F7"/>
                </a:solidFill>
                <a:latin typeface="Calibri" pitchFamily="34" charset="0"/>
                <a:ea typeface="Calibri" pitchFamily="34" charset="-122"/>
                <a:cs typeface="Calibri" pitchFamily="34" charset="-120"/>
              </a:rPr>
              <a:t>Web + mobil (iOS/Android) platformlarında özellik paritesi</a:t>
            </a:r>
            <a:endParaRPr lang="en-US" sz="1150" dirty="0"/>
          </a:p>
        </p:txBody>
      </p:sp>
      <p:sp>
        <p:nvSpPr>
          <p:cNvPr id="9" name="Shape 6"/>
          <p:cNvSpPr/>
          <p:nvPr/>
        </p:nvSpPr>
        <p:spPr>
          <a:xfrm>
            <a:off x="6035040" y="1691640"/>
            <a:ext cx="5120640" cy="4023360"/>
          </a:xfrm>
          <a:prstGeom prst="roundRect">
            <a:avLst>
              <a:gd name="adj" fmla="val 2727"/>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309360" y="1947672"/>
            <a:ext cx="502920" cy="502920"/>
          </a:xfrm>
          <a:prstGeom prst="ellipse">
            <a:avLst/>
          </a:prstGeom>
          <a:solidFill>
            <a:srgbClr val="3B82F6"/>
          </a:solidFill>
          <a:ln/>
        </p:spPr>
      </p:sp>
      <p:pic>
        <p:nvPicPr>
          <p:cNvPr id="11" name="Image 1" descr="/private/tmp/claude-501/-Users-ulasbudak-Desktop-borsa-app/e78c8e07-ac03-4beb-bcc3-115504839e4a/scratchpad/deck/icons/gitBranch-white.png">    </p:cNvPr>
          <p:cNvPicPr>
            <a:picLocks noChangeAspect="1"/>
          </p:cNvPicPr>
          <p:nvPr/>
        </p:nvPicPr>
        <p:blipFill>
          <a:blip r:embed="rId2"/>
          <a:stretch>
            <a:fillRect/>
          </a:stretch>
        </p:blipFill>
        <p:spPr>
          <a:xfrm>
            <a:off x="6374740" y="2013052"/>
            <a:ext cx="372161" cy="372161"/>
          </a:xfrm>
          <a:prstGeom prst="rect">
            <a:avLst/>
          </a:prstGeom>
        </p:spPr>
      </p:pic>
      <p:sp>
        <p:nvSpPr>
          <p:cNvPr id="12" name="Text 8"/>
          <p:cNvSpPr txBox="1"/>
          <p:nvPr/>
        </p:nvSpPr>
        <p:spPr>
          <a:xfrm>
            <a:off x="6995160" y="2029968"/>
            <a:ext cx="4023360" cy="365760"/>
          </a:xfrm>
          <a:prstGeom prst="rect">
            <a:avLst/>
          </a:prstGeom>
          <a:noFill/>
          <a:ln/>
        </p:spPr>
        <p:txBody>
          <a:bodyPr wrap="square" lIns="0" tIns="0" rIns="0" bIns="0" rtlCol="0" anchor="ctr"/>
          <a:lstStyle/>
          <a:p>
            <a:pPr indent="0" marL="0">
              <a:buNone/>
            </a:pPr>
            <a:r>
              <a:rPr lang="en-US" sz="1400" b="1" dirty="0">
                <a:solidFill>
                  <a:srgbClr val="3B82F6"/>
                </a:solidFill>
                <a:latin typeface="Calibri" pitchFamily="34" charset="0"/>
                <a:ea typeface="Calibri" pitchFamily="34" charset="-122"/>
                <a:cs typeface="Calibri" pitchFamily="34" charset="-120"/>
              </a:rPr>
              <a:t>Sıradaki — Faz 2 Önceliği</a:t>
            </a:r>
            <a:endParaRPr lang="en-US" sz="1400" dirty="0"/>
          </a:p>
        </p:txBody>
      </p:sp>
      <p:sp>
        <p:nvSpPr>
          <p:cNvPr id="13" name="Text 9"/>
          <p:cNvSpPr txBox="1"/>
          <p:nvPr/>
        </p:nvSpPr>
        <p:spPr>
          <a:xfrm>
            <a:off x="6995160" y="2514600"/>
            <a:ext cx="3977640" cy="30175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9 — AI destekli yorum: temel analiz (LLM+RAG) + teknik okuma (CV modeli) + günlük sektör bülteni</a:t>
            </a:r>
            <a:endParaRPr lang="en-US" sz="1150" dirty="0"/>
          </a:p>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10 — Alım-satım simülasyonu (paper trading): sanal bütçe, gerçek piyasa fiyatından emir yürütme</a:t>
            </a:r>
            <a:endParaRPr lang="en-US" sz="1150" dirty="0"/>
          </a:p>
          <a:p>
            <a:pPr marL="342900" indent="-342900">
              <a:lnSpc>
                <a:spcPct val="130000"/>
              </a:lnSpc>
              <a:buSzPct val="100000"/>
              <a:buChar char="•"/>
            </a:pPr>
            <a:r>
              <a:rPr lang="en-US" sz="1150" dirty="0">
                <a:solidFill>
                  <a:srgbClr val="F4F5F7"/>
                </a:solidFill>
                <a:latin typeface="Calibri" pitchFamily="34" charset="0"/>
                <a:ea typeface="Calibri" pitchFamily="34" charset="-122"/>
                <a:cs typeface="Calibri" pitchFamily="34" charset="-120"/>
              </a:rPr>
              <a:t>Sonrasında: ML tabanlı örüntü tanıma, özelleştirilebilir skor ağırlıklandırma, tarama bildirimleri, gelişmiş kişiselleştirme</a:t>
            </a:r>
            <a:endParaRPr lang="en-US" sz="1150" dirty="0"/>
          </a:p>
        </p:txBody>
      </p:sp>
      <p:sp>
        <p:nvSpPr>
          <p:cNvPr id="14" name="Text 1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pic>
        <p:nvPicPr>
          <p:cNvPr id="15" name="Image 2" descr="/private/tmp/claude-501/-Users-ulasbudak-Desktop-borsa-app/e78c8e07-ac03-4beb-bcc3-115504839e4a/scratchpad/deck/logo_mark_accent.png">    </p:cNvPr>
          <p:cNvPicPr>
            <a:picLocks noChangeAspect="1"/>
          </p:cNvPicPr>
          <p:nvPr/>
        </p:nvPicPr>
        <p:blipFill>
          <a:blip r:embed="rId3"/>
          <a:stretch>
            <a:fillRect/>
          </a:stretch>
        </p:blipFill>
        <p:spPr>
          <a:xfrm>
            <a:off x="548640" y="6437376"/>
            <a:ext cx="173736" cy="173736"/>
          </a:xfrm>
          <a:prstGeom prst="rect">
            <a:avLst/>
          </a:prstGeom>
        </p:spPr>
      </p:pic>
      <p:sp>
        <p:nvSpPr>
          <p:cNvPr id="16" name="Text 11"/>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ŞEFFAFLIK &amp; REGÜLASYON</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Borocean bir aracı kurum değildir — ve bunu bilinçli tasarladık</a:t>
            </a:r>
            <a:endParaRPr lang="en-US" sz="3000" dirty="0"/>
          </a:p>
        </p:txBody>
      </p:sp>
      <p:sp>
        <p:nvSpPr>
          <p:cNvPr id="4" name="Shape 2"/>
          <p:cNvSpPr/>
          <p:nvPr/>
        </p:nvSpPr>
        <p:spPr>
          <a:xfrm>
            <a:off x="548640" y="1737360"/>
            <a:ext cx="10607040" cy="1463040"/>
          </a:xfrm>
          <a:prstGeom prst="roundRect">
            <a:avLst>
              <a:gd name="adj" fmla="val 75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65960"/>
            <a:ext cx="548640" cy="548640"/>
          </a:xfrm>
          <a:prstGeom prst="ellipse">
            <a:avLst/>
          </a:prstGeom>
          <a:solidFill>
            <a:srgbClr val="34D399"/>
          </a:solidFill>
          <a:ln/>
        </p:spPr>
      </p:sp>
      <p:pic>
        <p:nvPicPr>
          <p:cNvPr id="6" name="Image 0" descr="/private/tmp/claude-501/-Users-ulasbudak-Desktop-borsa-app/e78c8e07-ac03-4beb-bcc3-115504839e4a/scratchpad/deck/icons/shield-dark.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1554480" y="1874520"/>
            <a:ext cx="9326880" cy="36576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Ürün konumu: araştırma &amp; karar destek — alım-satım emri iletmez</a:t>
            </a:r>
            <a:endParaRPr lang="en-US" sz="1350" dirty="0"/>
          </a:p>
        </p:txBody>
      </p:sp>
      <p:sp>
        <p:nvSpPr>
          <p:cNvPr id="8" name="Text 5"/>
          <p:cNvSpPr txBox="1"/>
          <p:nvPr/>
        </p:nvSpPr>
        <p:spPr>
          <a:xfrm>
            <a:off x="1554480" y="2258568"/>
            <a:ext cx="9326880" cy="86868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Tüm ekranlarda “yatırım tavsiyesi değildir” ibaresi bulunur. AI/sinyal çıktıları kasıtlı olarak “örüntü/sinyal bulgusu” dilinde sunulur — “tavsiye” veya “trading stratejisi” olarak değil. Alım-satım simülasyonu tamamen sanal bütçeyle çalışır, hiçbir gerçek emir hiçbir aracı kuruma iletilmez.</a:t>
            </a:r>
            <a:endParaRPr lang="en-US" sz="1150" dirty="0"/>
          </a:p>
        </p:txBody>
      </p:sp>
      <p:sp>
        <p:nvSpPr>
          <p:cNvPr id="9" name="Shape 6"/>
          <p:cNvSpPr/>
          <p:nvPr/>
        </p:nvSpPr>
        <p:spPr>
          <a:xfrm>
            <a:off x="548640" y="3383280"/>
            <a:ext cx="10607040" cy="1965960"/>
          </a:xfrm>
          <a:prstGeom prst="roundRect">
            <a:avLst>
              <a:gd name="adj" fmla="val 5581"/>
            </a:avLst>
          </a:prstGeom>
          <a:solidFill>
            <a:srgbClr val="1E2126"/>
          </a:solidFill>
          <a:ln w="12700">
            <a:solidFill>
              <a:srgbClr val="F59E0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822960" y="3611880"/>
            <a:ext cx="548640" cy="548640"/>
          </a:xfrm>
          <a:prstGeom prst="ellipse">
            <a:avLst/>
          </a:prstGeom>
          <a:solidFill>
            <a:srgbClr val="F59E0B"/>
          </a:solidFill>
          <a:ln/>
        </p:spPr>
      </p:sp>
      <p:pic>
        <p:nvPicPr>
          <p:cNvPr id="11" name="Image 1" descr="/private/tmp/claude-501/-Users-ulasbudak-Desktop-borsa-app/e78c8e07-ac03-4beb-bcc3-115504839e4a/scratchpad/deck/icons/alertTriangle-dark.png">    </p:cNvPr>
          <p:cNvPicPr>
            <a:picLocks noChangeAspect="1"/>
          </p:cNvPicPr>
          <p:nvPr/>
        </p:nvPicPr>
        <p:blipFill>
          <a:blip r:embed="rId2"/>
          <a:stretch>
            <a:fillRect/>
          </a:stretch>
        </p:blipFill>
        <p:spPr>
          <a:xfrm>
            <a:off x="894283" y="3683203"/>
            <a:ext cx="405994" cy="405994"/>
          </a:xfrm>
          <a:prstGeom prst="rect">
            <a:avLst/>
          </a:prstGeom>
        </p:spPr>
      </p:pic>
      <p:sp>
        <p:nvSpPr>
          <p:cNvPr id="12" name="Text 8"/>
          <p:cNvSpPr txBox="1"/>
          <p:nvPr/>
        </p:nvSpPr>
        <p:spPr>
          <a:xfrm>
            <a:off x="1554480" y="3520440"/>
            <a:ext cx="9326880" cy="365760"/>
          </a:xfrm>
          <a:prstGeom prst="rect">
            <a:avLst/>
          </a:prstGeom>
          <a:noFill/>
          <a:ln/>
        </p:spPr>
        <p:txBody>
          <a:bodyPr wrap="square" lIns="0" tIns="0" rIns="0" bIns="0" rtlCol="0" anchor="ctr"/>
          <a:lstStyle/>
          <a:p>
            <a:pPr indent="0" marL="0">
              <a:buNone/>
            </a:pPr>
            <a:r>
              <a:rPr lang="en-US" sz="1350" b="1" dirty="0">
                <a:solidFill>
                  <a:srgbClr val="F59E0B"/>
                </a:solidFill>
                <a:latin typeface="Calibri" pitchFamily="34" charset="0"/>
                <a:ea typeface="Calibri" pitchFamily="34" charset="-122"/>
                <a:cs typeface="Calibri" pitchFamily="34" charset="-120"/>
              </a:rPr>
              <a:t>Açık madde — yatırımcı sunumundan önce kapatılmalı</a:t>
            </a:r>
            <a:endParaRPr lang="en-US" sz="1350" dirty="0"/>
          </a:p>
        </p:txBody>
      </p:sp>
      <p:sp>
        <p:nvSpPr>
          <p:cNvPr id="13" name="Text 9"/>
          <p:cNvSpPr txBox="1"/>
          <p:nvPr/>
        </p:nvSpPr>
        <p:spPr>
          <a:xfrm>
            <a:off x="1554480" y="3904488"/>
            <a:ext cx="9326880" cy="1371600"/>
          </a:xfrm>
          <a:prstGeom prst="rect">
            <a:avLst/>
          </a:prstGeom>
          <a:noFill/>
          <a:ln/>
        </p:spPr>
        <p:txBody>
          <a:bodyPr wrap="square" lIns="0" tIns="0" rIns="0" bIns="0" rtlCol="0" anchor="ctr"/>
          <a:lstStyle/>
          <a:p>
            <a:pPr indent="0" marL="0">
              <a:lnSpc>
                <a:spcPct val="130000"/>
              </a:lnSpc>
              <a:buNone/>
            </a:pPr>
            <a:r>
              <a:rPr lang="en-US" sz="1150" dirty="0">
                <a:solidFill>
                  <a:srgbClr val="F4F5F7"/>
                </a:solidFill>
                <a:latin typeface="Calibri" pitchFamily="34" charset="0"/>
                <a:ea typeface="Calibri" pitchFamily="34" charset="-122"/>
                <a:cs typeface="Calibri" pitchFamily="34" charset="-120"/>
              </a:rPr>
              <a:t>“Örüntü/sinyal bulgusu” dilinin, ABD (SEC/FINRA) ve Türkiye (SPK) yatırım danışmanlığı düzenlemelerine tabi olmama sınırının dışında kalmak için hukuken yeterli olup olmadığı bir hukuk danışmanıyla teyit edilmeli. Bu, hem mevcut sinyal motorunun hem de Epic 9'daki AI yorum katmanının dayandığı temel bir varsayım.</a:t>
            </a:r>
            <a:endParaRPr lang="en-US" sz="1150" dirty="0"/>
          </a:p>
        </p:txBody>
      </p:sp>
      <p:sp>
        <p:nvSpPr>
          <p:cNvPr id="14" name="Text 1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pic>
        <p:nvPicPr>
          <p:cNvPr id="15" name="Image 2" descr="/private/tmp/claude-501/-Users-ulasbudak-Desktop-borsa-app/e78c8e07-ac03-4beb-bcc3-115504839e4a/scratchpad/deck/logo_mark_accent.png">    </p:cNvPr>
          <p:cNvPicPr>
            <a:picLocks noChangeAspect="1"/>
          </p:cNvPicPr>
          <p:nvPr/>
        </p:nvPicPr>
        <p:blipFill>
          <a:blip r:embed="rId3"/>
          <a:stretch>
            <a:fillRect/>
          </a:stretch>
        </p:blipFill>
        <p:spPr>
          <a:xfrm>
            <a:off x="548640" y="6437376"/>
            <a:ext cx="173736" cy="173736"/>
          </a:xfrm>
          <a:prstGeom prst="rect">
            <a:avLst/>
          </a:prstGeom>
        </p:spPr>
      </p:pic>
      <p:sp>
        <p:nvSpPr>
          <p:cNvPr id="16" name="Text 11"/>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BOROCEAN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1828800" y="-2286000"/>
            <a:ext cx="7315200" cy="7315200"/>
          </a:xfrm>
          <a:prstGeom prst="ellipse">
            <a:avLst/>
          </a:prstGeom>
          <a:solidFill>
            <a:srgbClr val="3B82F6">
              <a:alpha val="10000"/>
            </a:srgbClr>
          </a:solidFill>
          <a:ln/>
        </p:spPr>
      </p:sp>
      <p:pic>
        <p:nvPicPr>
          <p:cNvPr id="3" name="Image 0" descr="/private/tmp/claude-501/-Users-ulasbudak-Desktop-borsa-app/e78c8e07-ac03-4beb-bcc3-115504839e4a/scratchpad/deck/logo_mark_accent.png">    </p:cNvPr>
          <p:cNvPicPr>
            <a:picLocks noChangeAspect="1"/>
          </p:cNvPicPr>
          <p:nvPr/>
        </p:nvPicPr>
        <p:blipFill>
          <a:blip r:embed="rId1"/>
          <a:stretch>
            <a:fillRect/>
          </a:stretch>
        </p:blipFill>
        <p:spPr>
          <a:xfrm>
            <a:off x="822960" y="777240"/>
            <a:ext cx="777240" cy="777240"/>
          </a:xfrm>
          <a:prstGeom prst="rect">
            <a:avLst/>
          </a:prstGeom>
        </p:spPr>
      </p:pic>
      <p:sp>
        <p:nvSpPr>
          <p:cNvPr id="4" name="Text 1"/>
          <p:cNvSpPr txBox="1"/>
          <p:nvPr/>
        </p:nvSpPr>
        <p:spPr>
          <a:xfrm>
            <a:off x="822960" y="1874520"/>
            <a:ext cx="9601200" cy="822960"/>
          </a:xfrm>
          <a:prstGeom prst="rect">
            <a:avLst/>
          </a:prstGeom>
          <a:noFill/>
          <a:ln/>
        </p:spPr>
        <p:txBody>
          <a:bodyPr wrap="square" lIns="0" tIns="0" rIns="0" bIns="0" rtlCol="0" anchor="ctr"/>
          <a:lstStyle/>
          <a:p>
            <a:pPr indent="0" marL="0">
              <a:buNone/>
            </a:pPr>
            <a:r>
              <a:rPr lang="en-US" sz="4000" b="1" dirty="0">
                <a:solidFill>
                  <a:srgbClr val="F4F5F7"/>
                </a:solidFill>
                <a:latin typeface="Cambria" pitchFamily="34" charset="0"/>
                <a:ea typeface="Cambria" pitchFamily="34" charset="-122"/>
                <a:cs typeface="Cambria" pitchFamily="34" charset="-120"/>
              </a:rPr>
              <a:t>Birlikte büyütelim.</a:t>
            </a:r>
            <a:endParaRPr lang="en-US" sz="4000" dirty="0"/>
          </a:p>
        </p:txBody>
      </p:sp>
      <p:sp>
        <p:nvSpPr>
          <p:cNvPr id="5" name="Text 2"/>
          <p:cNvSpPr txBox="1"/>
          <p:nvPr/>
        </p:nvSpPr>
        <p:spPr>
          <a:xfrm>
            <a:off x="868680" y="2697480"/>
            <a:ext cx="8686800" cy="548640"/>
          </a:xfrm>
          <a:prstGeom prst="rect">
            <a:avLst/>
          </a:prstGeom>
          <a:noFill/>
          <a:ln/>
        </p:spPr>
        <p:txBody>
          <a:bodyPr wrap="square" lIns="0" tIns="0" rIns="0" bIns="0" rtlCol="0" anchor="ctr"/>
          <a:lstStyle/>
          <a:p>
            <a:pPr indent="0" marL="0">
              <a:buNone/>
            </a:pPr>
            <a:r>
              <a:rPr lang="en-US" sz="1500" dirty="0">
                <a:solidFill>
                  <a:srgbClr val="9CA3AF"/>
                </a:solidFill>
                <a:latin typeface="Calibri" pitchFamily="34" charset="0"/>
                <a:ea typeface="Calibri" pitchFamily="34" charset="-122"/>
                <a:cs typeface="Calibri" pitchFamily="34" charset="-120"/>
              </a:rPr>
              <a:t>Beta kullanıcı davetleri, erken geri bildirim ve ortaklık/yatırım görüşmeleri için iletişime geçin.</a:t>
            </a:r>
            <a:endParaRPr lang="en-US" sz="1500" dirty="0"/>
          </a:p>
        </p:txBody>
      </p:sp>
      <p:sp>
        <p:nvSpPr>
          <p:cNvPr id="6" name="Shape 3"/>
          <p:cNvSpPr/>
          <p:nvPr/>
        </p:nvSpPr>
        <p:spPr>
          <a:xfrm>
            <a:off x="822960" y="3566160"/>
            <a:ext cx="5669280" cy="914400"/>
          </a:xfrm>
          <a:prstGeom prst="roundRect">
            <a:avLst>
              <a:gd name="adj" fmla="val 120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1051560" y="3776472"/>
            <a:ext cx="493776" cy="493776"/>
          </a:xfrm>
          <a:prstGeom prst="ellipse">
            <a:avLst/>
          </a:prstGeom>
          <a:solidFill>
            <a:srgbClr val="3B82F6"/>
          </a:solidFill>
          <a:ln/>
        </p:spPr>
      </p:sp>
      <p:pic>
        <p:nvPicPr>
          <p:cNvPr id="8" name="Image 1" descr="/private/tmp/claude-501/-Users-ulasbudak-Desktop-borsa-app/e78c8e07-ac03-4beb-bcc3-115504839e4a/scratchpad/deck/icons/mail-white.png">    </p:cNvPr>
          <p:cNvPicPr>
            <a:picLocks noChangeAspect="1"/>
          </p:cNvPicPr>
          <p:nvPr/>
        </p:nvPicPr>
        <p:blipFill>
          <a:blip r:embed="rId2"/>
          <a:stretch>
            <a:fillRect/>
          </a:stretch>
        </p:blipFill>
        <p:spPr>
          <a:xfrm>
            <a:off x="1115751" y="3840663"/>
            <a:ext cx="365394" cy="365394"/>
          </a:xfrm>
          <a:prstGeom prst="rect">
            <a:avLst/>
          </a:prstGeom>
        </p:spPr>
      </p:pic>
      <p:sp>
        <p:nvSpPr>
          <p:cNvPr id="9" name="Text 5"/>
          <p:cNvSpPr txBox="1"/>
          <p:nvPr/>
        </p:nvSpPr>
        <p:spPr>
          <a:xfrm>
            <a:off x="1691640" y="3776472"/>
            <a:ext cx="4663440" cy="493776"/>
          </a:xfrm>
          <a:prstGeom prst="rect">
            <a:avLst/>
          </a:prstGeom>
          <a:noFill/>
          <a:ln/>
        </p:spPr>
        <p:txBody>
          <a:bodyPr wrap="square" lIns="0" tIns="0" rIns="0" bIns="0" rtlCol="0" anchor="ctr"/>
          <a:lstStyle/>
          <a:p>
            <a:pPr indent="0" marL="0">
              <a:buNone/>
            </a:pPr>
            <a:r>
              <a:rPr lang="en-US" sz="1400" b="1" dirty="0">
                <a:solidFill>
                  <a:srgbClr val="F4F5F7"/>
                </a:solidFill>
                <a:latin typeface="Calibri" pitchFamily="34" charset="0"/>
                <a:ea typeface="Calibri" pitchFamily="34" charset="-122"/>
                <a:cs typeface="Calibri" pitchFamily="34" charset="-120"/>
              </a:rPr>
              <a:t>serdarulasbudak@gmail.com</a:t>
            </a:r>
            <a:endParaRPr lang="en-US" sz="1400" dirty="0"/>
          </a:p>
        </p:txBody>
      </p:sp>
      <p:sp>
        <p:nvSpPr>
          <p:cNvPr id="10" name="Text 6"/>
          <p:cNvSpPr txBox="1"/>
          <p:nvPr/>
        </p:nvSpPr>
        <p:spPr>
          <a:xfrm>
            <a:off x="822960" y="6126480"/>
            <a:ext cx="7315200" cy="36576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Borocean  ·  BIST + ABD hisse araştırma uygulaması  ·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2026-09-22T21:29:57Z</dcterms:created>
  <dcterms:modified xsi:type="dcterms:W3CDTF">2026-09-22T21:29:57Z</dcterms:modified>
</cp:coreProperties>
</file>